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2011680"/>
            <a:ext cx="11274552" cy="1280160"/>
          </a:xfrm>
          <a:prstGeom prst="rect">
            <a:avLst/>
          </a:prstGeom>
          <a:noFill/>
          <a:ln/>
        </p:spPr>
        <p:txBody>
          <a:bodyPr wrap="square" rtlCol="0" anchor="ctr"/>
          <a:lstStyle/>
          <a:p>
            <a:pPr algn="ctr" indent="0" marL="0">
              <a:buNone/>
            </a:pPr>
            <a:r>
              <a:rPr lang="en-US" sz="7200" b="1" spc="800" kern="0" dirty="0">
                <a:solidFill>
                  <a:srgbClr val="FFFFFF"/>
                </a:solidFill>
                <a:latin typeface="Arial" pitchFamily="34" charset="0"/>
                <a:ea typeface="Arial" pitchFamily="34" charset="-122"/>
                <a:cs typeface="Arial" pitchFamily="34" charset="-120"/>
              </a:rPr>
              <a:t>PRAHARI</a:t>
            </a:r>
            <a:endParaRPr lang="en-US" sz="7200" dirty="0"/>
          </a:p>
        </p:txBody>
      </p:sp>
      <p:sp>
        <p:nvSpPr>
          <p:cNvPr id="3" name="Text 1"/>
          <p:cNvSpPr/>
          <p:nvPr/>
        </p:nvSpPr>
        <p:spPr>
          <a:xfrm>
            <a:off x="457200" y="3291840"/>
            <a:ext cx="11274552" cy="548640"/>
          </a:xfrm>
          <a:prstGeom prst="rect">
            <a:avLst/>
          </a:prstGeom>
          <a:noFill/>
          <a:ln/>
        </p:spPr>
        <p:txBody>
          <a:bodyPr wrap="square" rtlCol="0" anchor="ctr"/>
          <a:lstStyle/>
          <a:p>
            <a:pPr algn="ctr" indent="0" marL="0">
              <a:buNone/>
            </a:pPr>
            <a:r>
              <a:rPr lang="en-US" sz="2400" dirty="0">
                <a:solidFill>
                  <a:srgbClr val="22D3EE"/>
                </a:solidFill>
                <a:latin typeface="Calibri" pitchFamily="34" charset="0"/>
                <a:ea typeface="Calibri" pitchFamily="34" charset="-122"/>
                <a:cs typeface="Calibri" pitchFamily="34" charset="-120"/>
              </a:rPr>
              <a:t>AI-Powered Digital Public Safety Command Centre</a:t>
            </a:r>
            <a:endParaRPr lang="en-US" sz="2400" dirty="0"/>
          </a:p>
        </p:txBody>
      </p:sp>
      <p:sp>
        <p:nvSpPr>
          <p:cNvPr id="4" name="Text 2"/>
          <p:cNvSpPr/>
          <p:nvPr/>
        </p:nvSpPr>
        <p:spPr>
          <a:xfrm>
            <a:off x="457200" y="3886200"/>
            <a:ext cx="11274552" cy="457200"/>
          </a:xfrm>
          <a:prstGeom prst="rect">
            <a:avLst/>
          </a:prstGeom>
          <a:noFill/>
          <a:ln/>
        </p:spPr>
        <p:txBody>
          <a:bodyPr wrap="square" rtlCol="0" anchor="ctr"/>
          <a:lstStyle/>
          <a:p>
            <a:pPr algn="ctr" indent="0" marL="0">
              <a:buNone/>
            </a:pPr>
            <a:r>
              <a:rPr lang="en-US" sz="1600" i="1" dirty="0">
                <a:solidFill>
                  <a:srgbClr val="8CA0C4"/>
                </a:solidFill>
                <a:latin typeface="Calibri" pitchFamily="34" charset="0"/>
                <a:ea typeface="Calibri" pitchFamily="34" charset="-122"/>
                <a:cs typeface="Calibri" pitchFamily="34" charset="-120"/>
              </a:rPr>
              <a:t>Predict. Protect. Prosecute.</a:t>
            </a:r>
            <a:endParaRPr lang="en-US" sz="1600" dirty="0"/>
          </a:p>
        </p:txBody>
      </p:sp>
      <p:sp>
        <p:nvSpPr>
          <p:cNvPr id="5" name="Text 3"/>
          <p:cNvSpPr/>
          <p:nvPr/>
        </p:nvSpPr>
        <p:spPr>
          <a:xfrm>
            <a:off x="1371600" y="5074920"/>
            <a:ext cx="9445752" cy="365760"/>
          </a:xfrm>
          <a:prstGeom prst="rect">
            <a:avLst/>
          </a:prstGeom>
          <a:noFill/>
          <a:ln/>
        </p:spPr>
        <p:txBody>
          <a:bodyPr wrap="square" rtlCol="0" anchor="ctr"/>
          <a:lstStyle/>
          <a:p>
            <a:pPr algn="ctr" indent="0" marL="0">
              <a:buNone/>
            </a:pPr>
            <a:r>
              <a:rPr lang="en-US" sz="1300" b="1" dirty="0">
                <a:solidFill>
                  <a:srgbClr val="DBE6F7"/>
                </a:solidFill>
                <a:latin typeface="Calibri" pitchFamily="34" charset="0"/>
                <a:ea typeface="Calibri" pitchFamily="34" charset="-122"/>
                <a:cs typeface="Calibri" pitchFamily="34" charset="-120"/>
              </a:rPr>
              <a:t>ET AI Hackathon 2.0 — Phase 2 Build Sprint</a:t>
            </a:r>
            <a:endParaRPr lang="en-US" sz="1300" dirty="0"/>
          </a:p>
        </p:txBody>
      </p:sp>
      <p:sp>
        <p:nvSpPr>
          <p:cNvPr id="6" name="Text 4"/>
          <p:cNvSpPr/>
          <p:nvPr/>
        </p:nvSpPr>
        <p:spPr>
          <a:xfrm>
            <a:off x="1371600" y="5440680"/>
            <a:ext cx="9445752" cy="365760"/>
          </a:xfrm>
          <a:prstGeom prst="rect">
            <a:avLst/>
          </a:prstGeom>
          <a:noFill/>
          <a:ln/>
        </p:spPr>
        <p:txBody>
          <a:bodyPr wrap="square" rtlCol="0" anchor="ctr"/>
          <a:lstStyle/>
          <a:p>
            <a:pPr algn="ctr" indent="0" marL="0">
              <a:buNone/>
            </a:pPr>
            <a:r>
              <a:rPr lang="en-US" sz="1300" dirty="0">
                <a:solidFill>
                  <a:srgbClr val="DBE6F7"/>
                </a:solidFill>
                <a:latin typeface="Calibri" pitchFamily="34" charset="0"/>
                <a:ea typeface="Calibri" pitchFamily="34" charset="-122"/>
                <a:cs typeface="Calibri" pitchFamily="34" charset="-120"/>
              </a:rPr>
              <a:t>Problem Statement #6: AI for Digital Public Safety — Defeating Counterfeiting, Fraud &amp; Digital Arrest Scams</a:t>
            </a:r>
            <a:endParaRPr lang="en-US" sz="1300" dirty="0"/>
          </a:p>
        </p:txBody>
      </p:sp>
      <p:sp>
        <p:nvSpPr>
          <p:cNvPr id="7" name="Text 5"/>
          <p:cNvSpPr/>
          <p:nvPr/>
        </p:nvSpPr>
        <p:spPr>
          <a:xfrm>
            <a:off x="1371600" y="5943600"/>
            <a:ext cx="9445752" cy="365760"/>
          </a:xfrm>
          <a:prstGeom prst="rect">
            <a:avLst/>
          </a:prstGeom>
          <a:noFill/>
          <a:ln/>
        </p:spPr>
        <p:txBody>
          <a:bodyPr wrap="square" rtlCol="0" anchor="ctr"/>
          <a:lstStyle/>
          <a:p>
            <a:pPr algn="ctr" indent="0" marL="0">
              <a:buNone/>
            </a:pPr>
            <a:r>
              <a:rPr lang="en-US" sz="1400" b="1" dirty="0">
                <a:solidFill>
                  <a:srgbClr val="34D399"/>
                </a:solidFill>
                <a:latin typeface="Calibri" pitchFamily="34" charset="0"/>
                <a:ea typeface="Calibri" pitchFamily="34" charset="-122"/>
                <a:cs typeface="Calibri" pitchFamily="34" charset="-120"/>
              </a:rPr>
              <a:t>LIVE — try it now: sanskar9999.github.io/prahari  ·  github.com/sanskar9999/prahari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A national crisis of digital trust</a:t>
            </a:r>
            <a:endParaRPr lang="en-US" sz="3800" dirty="0"/>
          </a:p>
        </p:txBody>
      </p:sp>
      <p:sp>
        <p:nvSpPr>
          <p:cNvPr id="3" name="Shape 1"/>
          <p:cNvSpPr/>
          <p:nvPr/>
        </p:nvSpPr>
        <p:spPr>
          <a:xfrm>
            <a:off x="548640" y="1463040"/>
            <a:ext cx="3520440" cy="2286000"/>
          </a:xfrm>
          <a:prstGeom prst="roundRect">
            <a:avLst>
              <a:gd name="adj" fmla="val 3200"/>
            </a:avLst>
          </a:prstGeom>
          <a:solidFill>
            <a:srgbClr val="141F38"/>
          </a:solidFill>
          <a:ln w="9525">
            <a:solidFill>
              <a:srgbClr val="24365C"/>
            </a:solidFill>
            <a:prstDash val="solid"/>
          </a:ln>
        </p:spPr>
      </p:sp>
      <p:sp>
        <p:nvSpPr>
          <p:cNvPr id="4" name="Text 2"/>
          <p:cNvSpPr/>
          <p:nvPr/>
        </p:nvSpPr>
        <p:spPr>
          <a:xfrm>
            <a:off x="777240" y="1691640"/>
            <a:ext cx="3063240" cy="914400"/>
          </a:xfrm>
          <a:prstGeom prst="rect">
            <a:avLst/>
          </a:prstGeom>
          <a:noFill/>
          <a:ln/>
        </p:spPr>
        <p:txBody>
          <a:bodyPr wrap="square" rtlCol="0" anchor="ctr"/>
          <a:lstStyle/>
          <a:p>
            <a:pPr indent="0" marL="0">
              <a:buNone/>
            </a:pPr>
            <a:r>
              <a:rPr lang="en-US" sz="4400" b="1" dirty="0">
                <a:solidFill>
                  <a:srgbClr val="F8536B"/>
                </a:solidFill>
                <a:latin typeface="Arial" pitchFamily="34" charset="0"/>
                <a:ea typeface="Arial" pitchFamily="34" charset="-122"/>
                <a:cs typeface="Arial" pitchFamily="34" charset="-120"/>
              </a:rPr>
              <a:t>₹1,776 Cr</a:t>
            </a:r>
            <a:endParaRPr lang="en-US" sz="4400" dirty="0"/>
          </a:p>
        </p:txBody>
      </p:sp>
      <p:sp>
        <p:nvSpPr>
          <p:cNvPr id="5" name="Text 3"/>
          <p:cNvSpPr/>
          <p:nvPr/>
        </p:nvSpPr>
        <p:spPr>
          <a:xfrm>
            <a:off x="77724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stolen via digital arrest scams in Jan–Sep 2024 alone (MHA)</a:t>
            </a:r>
            <a:endParaRPr lang="en-US" sz="1350" dirty="0"/>
          </a:p>
        </p:txBody>
      </p:sp>
      <p:sp>
        <p:nvSpPr>
          <p:cNvPr id="6" name="Shape 4"/>
          <p:cNvSpPr/>
          <p:nvPr/>
        </p:nvSpPr>
        <p:spPr>
          <a:xfrm>
            <a:off x="4343400" y="1463040"/>
            <a:ext cx="3520440" cy="2286000"/>
          </a:xfrm>
          <a:prstGeom prst="roundRect">
            <a:avLst>
              <a:gd name="adj" fmla="val 3200"/>
            </a:avLst>
          </a:prstGeom>
          <a:solidFill>
            <a:srgbClr val="141F38"/>
          </a:solidFill>
          <a:ln w="9525">
            <a:solidFill>
              <a:srgbClr val="24365C"/>
            </a:solidFill>
            <a:prstDash val="solid"/>
          </a:ln>
        </p:spPr>
      </p:sp>
      <p:sp>
        <p:nvSpPr>
          <p:cNvPr id="7" name="Text 5"/>
          <p:cNvSpPr/>
          <p:nvPr/>
        </p:nvSpPr>
        <p:spPr>
          <a:xfrm>
            <a:off x="4572000" y="1691640"/>
            <a:ext cx="3063240" cy="914400"/>
          </a:xfrm>
          <a:prstGeom prst="rect">
            <a:avLst/>
          </a:prstGeom>
          <a:noFill/>
          <a:ln/>
        </p:spPr>
        <p:txBody>
          <a:bodyPr wrap="square" rtlCol="0" anchor="ctr"/>
          <a:lstStyle/>
          <a:p>
            <a:pPr indent="0" marL="0">
              <a:buNone/>
            </a:pPr>
            <a:r>
              <a:rPr lang="en-US" sz="4400" b="1" dirty="0">
                <a:solidFill>
                  <a:srgbClr val="FBBF24"/>
                </a:solidFill>
                <a:latin typeface="Arial" pitchFamily="34" charset="0"/>
                <a:ea typeface="Arial" pitchFamily="34" charset="-122"/>
                <a:cs typeface="Arial" pitchFamily="34" charset="-120"/>
              </a:rPr>
              <a:t>1.14 M</a:t>
            </a:r>
            <a:endParaRPr lang="en-US" sz="4400" dirty="0"/>
          </a:p>
        </p:txBody>
      </p:sp>
      <p:sp>
        <p:nvSpPr>
          <p:cNvPr id="8" name="Text 6"/>
          <p:cNvSpPr/>
          <p:nvPr/>
        </p:nvSpPr>
        <p:spPr>
          <a:xfrm>
            <a:off x="457200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cybercrime complaints in 2023, up 60% YoY — seniors targeted most</a:t>
            </a:r>
            <a:endParaRPr lang="en-US" sz="1350" dirty="0"/>
          </a:p>
        </p:txBody>
      </p:sp>
      <p:sp>
        <p:nvSpPr>
          <p:cNvPr id="9" name="Shape 7"/>
          <p:cNvSpPr/>
          <p:nvPr/>
        </p:nvSpPr>
        <p:spPr>
          <a:xfrm>
            <a:off x="8138160" y="1463040"/>
            <a:ext cx="3520440" cy="2286000"/>
          </a:xfrm>
          <a:prstGeom prst="roundRect">
            <a:avLst>
              <a:gd name="adj" fmla="val 3200"/>
            </a:avLst>
          </a:prstGeom>
          <a:solidFill>
            <a:srgbClr val="141F38"/>
          </a:solidFill>
          <a:ln w="9525">
            <a:solidFill>
              <a:srgbClr val="24365C"/>
            </a:solidFill>
            <a:prstDash val="solid"/>
          </a:ln>
        </p:spPr>
      </p:sp>
      <p:sp>
        <p:nvSpPr>
          <p:cNvPr id="10" name="Text 8"/>
          <p:cNvSpPr/>
          <p:nvPr/>
        </p:nvSpPr>
        <p:spPr>
          <a:xfrm>
            <a:off x="8366760" y="1691640"/>
            <a:ext cx="3063240" cy="914400"/>
          </a:xfrm>
          <a:prstGeom prst="rect">
            <a:avLst/>
          </a:prstGeom>
          <a:noFill/>
          <a:ln/>
        </p:spPr>
        <p:txBody>
          <a:bodyPr wrap="square" rtlCol="0" anchor="ctr"/>
          <a:lstStyle/>
          <a:p>
            <a:pPr indent="0" marL="0">
              <a:buNone/>
            </a:pPr>
            <a:r>
              <a:rPr lang="en-US" sz="4400" b="1" dirty="0">
                <a:solidFill>
                  <a:srgbClr val="22D3EE"/>
                </a:solidFill>
                <a:latin typeface="Arial" pitchFamily="34" charset="0"/>
                <a:ea typeface="Arial" pitchFamily="34" charset="-122"/>
                <a:cs typeface="Arial" pitchFamily="34" charset="-120"/>
              </a:rPr>
              <a:t>₹500</a:t>
            </a:r>
            <a:endParaRPr lang="en-US" sz="4400" dirty="0"/>
          </a:p>
        </p:txBody>
      </p:sp>
      <p:sp>
        <p:nvSpPr>
          <p:cNvPr id="11" name="Text 9"/>
          <p:cNvSpPr/>
          <p:nvPr/>
        </p:nvSpPr>
        <p:spPr>
          <a:xfrm>
            <a:off x="836676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high-quality fake notes routinely bypass manual checks at cash counters</a:t>
            </a:r>
            <a:endParaRPr lang="en-US" sz="1350" dirty="0"/>
          </a:p>
        </p:txBody>
      </p:sp>
      <p:sp>
        <p:nvSpPr>
          <p:cNvPr id="12" name="Shape 10"/>
          <p:cNvSpPr/>
          <p:nvPr/>
        </p:nvSpPr>
        <p:spPr>
          <a:xfrm>
            <a:off x="548640" y="4114800"/>
            <a:ext cx="11064240" cy="1965960"/>
          </a:xfrm>
          <a:prstGeom prst="roundRect">
            <a:avLst>
              <a:gd name="adj" fmla="val 3721"/>
            </a:avLst>
          </a:prstGeom>
          <a:solidFill>
            <a:srgbClr val="141F38"/>
          </a:solidFill>
          <a:ln w="9525">
            <a:solidFill>
              <a:srgbClr val="24365C"/>
            </a:solidFill>
            <a:prstDash val="solid"/>
          </a:ln>
        </p:spPr>
      </p:sp>
      <p:sp>
        <p:nvSpPr>
          <p:cNvPr id="13" name="Text 11"/>
          <p:cNvSpPr/>
          <p:nvPr/>
        </p:nvSpPr>
        <p:spPr>
          <a:xfrm>
            <a:off x="822960" y="4297680"/>
            <a:ext cx="10515600" cy="365760"/>
          </a:xfrm>
          <a:prstGeom prst="rect">
            <a:avLst/>
          </a:prstGeom>
          <a:noFill/>
          <a:ln/>
        </p:spPr>
        <p:txBody>
          <a:bodyPr wrap="square"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The playbook is industrial</a:t>
            </a:r>
            <a:endParaRPr lang="en-US" sz="1600" dirty="0"/>
          </a:p>
        </p:txBody>
      </p:sp>
      <p:sp>
        <p:nvSpPr>
          <p:cNvPr id="14" name="Text 12"/>
          <p:cNvSpPr/>
          <p:nvPr/>
        </p:nvSpPr>
        <p:spPr>
          <a:xfrm>
            <a:off x="822960" y="4709160"/>
            <a:ext cx="10515600" cy="1234440"/>
          </a:xfrm>
          <a:prstGeom prst="rect">
            <a:avLst/>
          </a:prstGeom>
          <a:noFill/>
          <a:ln/>
        </p:spPr>
        <p:txBody>
          <a:bodyPr wrap="square" rtlCol="0" anchor="ctr"/>
          <a:lstStyle/>
          <a:p>
            <a:pPr indent="0" marL="0">
              <a:lnSpc>
                <a:spcPts val="2200"/>
              </a:lnSpc>
              <a:buNone/>
            </a:pPr>
            <a:r>
              <a:rPr lang="en-US" sz="1450" dirty="0">
                <a:solidFill>
                  <a:srgbClr val="DBE6F7"/>
                </a:solidFill>
                <a:latin typeface="Calibri" pitchFamily="34" charset="0"/>
                <a:ea typeface="Calibri" pitchFamily="34" charset="-122"/>
                <a:cs typeface="Calibri" pitchFamily="34" charset="-120"/>
              </a:rPr>
              <a:t>Cross-border fraud compounds impersonate CBI, police and RBI officers using spoofed numbers, AI voices and deepfake video. Victims are held in “digital custody” for hours and coerced into wiring their savings to “verification accounts”. Meanwhile counterfeit currency enters through known border corridors — and every response today is reactive: the FIR is filed after the money is gone.</a:t>
            </a:r>
            <a:endParaRPr lang="en-US" sz="1450" dirty="0"/>
          </a:p>
        </p:txBody>
      </p:sp>
      <p:sp>
        <p:nvSpPr>
          <p:cNvPr id="15" name="Text 13"/>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6" name="Text 14"/>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Why the system keeps losing</a:t>
            </a:r>
            <a:endParaRPr lang="en-US" sz="3800" dirty="0"/>
          </a:p>
        </p:txBody>
      </p:sp>
      <p:sp>
        <p:nvSpPr>
          <p:cNvPr id="3" name="Shape 1"/>
          <p:cNvSpPr/>
          <p:nvPr/>
        </p:nvSpPr>
        <p:spPr>
          <a:xfrm>
            <a:off x="548640" y="1554480"/>
            <a:ext cx="3520440" cy="4206240"/>
          </a:xfrm>
          <a:prstGeom prst="roundRect">
            <a:avLst>
              <a:gd name="adj" fmla="val 2078"/>
            </a:avLst>
          </a:prstGeom>
          <a:solidFill>
            <a:srgbClr val="141F38"/>
          </a:solidFill>
          <a:ln w="9525">
            <a:solidFill>
              <a:srgbClr val="24365C"/>
            </a:solidFill>
            <a:prstDash val="solid"/>
          </a:ln>
        </p:spPr>
      </p:sp>
      <p:sp>
        <p:nvSpPr>
          <p:cNvPr id="4" name="Shape 2"/>
          <p:cNvSpPr/>
          <p:nvPr/>
        </p:nvSpPr>
        <p:spPr>
          <a:xfrm>
            <a:off x="822960" y="1828800"/>
            <a:ext cx="502920" cy="502920"/>
          </a:xfrm>
          <a:prstGeom prst="ellipse">
            <a:avLst/>
          </a:prstGeom>
          <a:solidFill>
            <a:srgbClr val="F8536B">
              <a:alpha val="18000"/>
            </a:srgbClr>
          </a:solidFill>
          <a:ln w="12700">
            <a:solidFill>
              <a:srgbClr val="F8536B"/>
            </a:solidFill>
            <a:prstDash val="solid"/>
          </a:ln>
        </p:spPr>
      </p:sp>
      <p:sp>
        <p:nvSpPr>
          <p:cNvPr id="5" name="Text 3"/>
          <p:cNvSpPr/>
          <p:nvPr/>
        </p:nvSpPr>
        <p:spPr>
          <a:xfrm>
            <a:off x="731520" y="1810512"/>
            <a:ext cx="685800" cy="548640"/>
          </a:xfrm>
          <a:prstGeom prst="rect">
            <a:avLst/>
          </a:prstGeom>
          <a:noFill/>
          <a:ln/>
        </p:spPr>
        <p:txBody>
          <a:bodyPr wrap="square" rtlCol="0" anchor="ctr"/>
          <a:lstStyle/>
          <a:p>
            <a:pPr algn="ctr" indent="0" marL="0">
              <a:buNone/>
            </a:pPr>
            <a:r>
              <a:rPr lang="en-US" sz="2000" dirty="0">
                <a:solidFill>
                  <a:srgbClr val="F8536B"/>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822960" y="2514600"/>
            <a:ext cx="3017520" cy="457200"/>
          </a:xfrm>
          <a:prstGeom prst="rect">
            <a:avLst/>
          </a:prstGeom>
          <a:noFill/>
          <a:ln/>
        </p:spPr>
        <p:txBody>
          <a:bodyPr wrap="square" rtlCol="0" anchor="ctr"/>
          <a:lstStyle/>
          <a:p>
            <a:pPr indent="0" marL="0">
              <a:buNone/>
            </a:pPr>
            <a:r>
              <a:rPr lang="en-US" sz="2100" b="1" dirty="0">
                <a:solidFill>
                  <a:srgbClr val="F8536B"/>
                </a:solidFill>
                <a:latin typeface="Arial" pitchFamily="34" charset="0"/>
                <a:ea typeface="Arial" pitchFamily="34" charset="-122"/>
                <a:cs typeface="Arial" pitchFamily="34" charset="-120"/>
              </a:rPr>
              <a:t>Reactive</a:t>
            </a:r>
            <a:endParaRPr lang="en-US" sz="2100" dirty="0"/>
          </a:p>
        </p:txBody>
      </p:sp>
      <p:sp>
        <p:nvSpPr>
          <p:cNvPr id="7" name="Text 5"/>
          <p:cNvSpPr/>
          <p:nvPr/>
        </p:nvSpPr>
        <p:spPr>
          <a:xfrm>
            <a:off x="82296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Detection happens after the transfer, after the counterfeit changes hands. The one moment that matters — before the money moves — is unprotected.</a:t>
            </a:r>
            <a:endParaRPr lang="en-US" sz="1350" dirty="0"/>
          </a:p>
        </p:txBody>
      </p:sp>
      <p:sp>
        <p:nvSpPr>
          <p:cNvPr id="8" name="Shape 6"/>
          <p:cNvSpPr/>
          <p:nvPr/>
        </p:nvSpPr>
        <p:spPr>
          <a:xfrm>
            <a:off x="4343400" y="1554480"/>
            <a:ext cx="3520440" cy="4206240"/>
          </a:xfrm>
          <a:prstGeom prst="roundRect">
            <a:avLst>
              <a:gd name="adj" fmla="val 2078"/>
            </a:avLst>
          </a:prstGeom>
          <a:solidFill>
            <a:srgbClr val="141F38"/>
          </a:solidFill>
          <a:ln w="9525">
            <a:solidFill>
              <a:srgbClr val="24365C"/>
            </a:solidFill>
            <a:prstDash val="solid"/>
          </a:ln>
        </p:spPr>
      </p:sp>
      <p:sp>
        <p:nvSpPr>
          <p:cNvPr id="9" name="Shape 7"/>
          <p:cNvSpPr/>
          <p:nvPr/>
        </p:nvSpPr>
        <p:spPr>
          <a:xfrm>
            <a:off x="4617720" y="1828800"/>
            <a:ext cx="502920" cy="502920"/>
          </a:xfrm>
          <a:prstGeom prst="ellipse">
            <a:avLst/>
          </a:prstGeom>
          <a:solidFill>
            <a:srgbClr val="FBBF24">
              <a:alpha val="18000"/>
            </a:srgbClr>
          </a:solidFill>
          <a:ln w="12700">
            <a:solidFill>
              <a:srgbClr val="FBBF24"/>
            </a:solidFill>
            <a:prstDash val="solid"/>
          </a:ln>
        </p:spPr>
      </p:sp>
      <p:sp>
        <p:nvSpPr>
          <p:cNvPr id="10" name="Text 8"/>
          <p:cNvSpPr/>
          <p:nvPr/>
        </p:nvSpPr>
        <p:spPr>
          <a:xfrm>
            <a:off x="4526280" y="1810512"/>
            <a:ext cx="685800" cy="548640"/>
          </a:xfrm>
          <a:prstGeom prst="rect">
            <a:avLst/>
          </a:prstGeom>
          <a:noFill/>
          <a:ln/>
        </p:spPr>
        <p:txBody>
          <a:bodyPr wrap="square" rtlCol="0" anchor="ctr"/>
          <a:lstStyle/>
          <a:p>
            <a:pPr algn="ctr" indent="0" marL="0">
              <a:buNone/>
            </a:pPr>
            <a:r>
              <a:rPr lang="en-US" sz="2000" dirty="0">
                <a:solidFill>
                  <a:srgbClr val="FBBF24"/>
                </a:solidFill>
                <a:latin typeface="Calibri" pitchFamily="34" charset="0"/>
                <a:ea typeface="Calibri" pitchFamily="34" charset="-122"/>
                <a:cs typeface="Calibri" pitchFamily="34" charset="-120"/>
              </a:rPr>
              <a:t>🗂</a:t>
            </a:r>
            <a:endParaRPr lang="en-US" sz="2000" dirty="0"/>
          </a:p>
        </p:txBody>
      </p:sp>
      <p:sp>
        <p:nvSpPr>
          <p:cNvPr id="11" name="Text 9"/>
          <p:cNvSpPr/>
          <p:nvPr/>
        </p:nvSpPr>
        <p:spPr>
          <a:xfrm>
            <a:off x="4617720" y="2514600"/>
            <a:ext cx="3017520" cy="457200"/>
          </a:xfrm>
          <a:prstGeom prst="rect">
            <a:avLst/>
          </a:prstGeom>
          <a:noFill/>
          <a:ln/>
        </p:spPr>
        <p:txBody>
          <a:bodyPr wrap="square" rtlCol="0" anchor="ctr"/>
          <a:lstStyle/>
          <a:p>
            <a:pPr indent="0" marL="0">
              <a:buNone/>
            </a:pPr>
            <a:r>
              <a:rPr lang="en-US" sz="2100" b="1" dirty="0">
                <a:solidFill>
                  <a:srgbClr val="FBBF24"/>
                </a:solidFill>
                <a:latin typeface="Arial" pitchFamily="34" charset="0"/>
                <a:ea typeface="Arial" pitchFamily="34" charset="-122"/>
                <a:cs typeface="Arial" pitchFamily="34" charset="-120"/>
              </a:rPr>
              <a:t>Siloed</a:t>
            </a:r>
            <a:endParaRPr lang="en-US" sz="2100" dirty="0"/>
          </a:p>
        </p:txBody>
      </p:sp>
      <p:sp>
        <p:nvSpPr>
          <p:cNvPr id="12" name="Text 10"/>
          <p:cNvSpPr/>
          <p:nvPr/>
        </p:nvSpPr>
        <p:spPr>
          <a:xfrm>
            <a:off x="461772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Victim reports, telco records, bank device fingerprints and mule accounts sit in separate systems across separate states. Nobody sees the campaign.</a:t>
            </a:r>
            <a:endParaRPr lang="en-US" sz="1350" dirty="0"/>
          </a:p>
        </p:txBody>
      </p:sp>
      <p:sp>
        <p:nvSpPr>
          <p:cNvPr id="13" name="Shape 11"/>
          <p:cNvSpPr/>
          <p:nvPr/>
        </p:nvSpPr>
        <p:spPr>
          <a:xfrm>
            <a:off x="8138160" y="1554480"/>
            <a:ext cx="3520440" cy="4206240"/>
          </a:xfrm>
          <a:prstGeom prst="roundRect">
            <a:avLst>
              <a:gd name="adj" fmla="val 2078"/>
            </a:avLst>
          </a:prstGeom>
          <a:solidFill>
            <a:srgbClr val="141F38"/>
          </a:solidFill>
          <a:ln w="9525">
            <a:solidFill>
              <a:srgbClr val="24365C"/>
            </a:solidFill>
            <a:prstDash val="solid"/>
          </a:ln>
        </p:spPr>
      </p:sp>
      <p:sp>
        <p:nvSpPr>
          <p:cNvPr id="14" name="Shape 12"/>
          <p:cNvSpPr/>
          <p:nvPr/>
        </p:nvSpPr>
        <p:spPr>
          <a:xfrm>
            <a:off x="8412480" y="1828800"/>
            <a:ext cx="502920" cy="502920"/>
          </a:xfrm>
          <a:prstGeom prst="ellipse">
            <a:avLst/>
          </a:prstGeom>
          <a:solidFill>
            <a:srgbClr val="22D3EE">
              <a:alpha val="18000"/>
            </a:srgbClr>
          </a:solidFill>
          <a:ln w="12700">
            <a:solidFill>
              <a:srgbClr val="22D3EE"/>
            </a:solidFill>
            <a:prstDash val="solid"/>
          </a:ln>
        </p:spPr>
      </p:sp>
      <p:sp>
        <p:nvSpPr>
          <p:cNvPr id="15" name="Text 13"/>
          <p:cNvSpPr/>
          <p:nvPr/>
        </p:nvSpPr>
        <p:spPr>
          <a:xfrm>
            <a:off x="8321040" y="1810512"/>
            <a:ext cx="685800" cy="548640"/>
          </a:xfrm>
          <a:prstGeom prst="rect">
            <a:avLst/>
          </a:prstGeom>
          <a:noFill/>
          <a:ln/>
        </p:spPr>
        <p:txBody>
          <a:bodyPr wrap="square" rtlCol="0" anchor="ctr"/>
          <a:lstStyle/>
          <a:p>
            <a:pPr algn="ctr" indent="0" marL="0">
              <a:buNone/>
            </a:pPr>
            <a:r>
              <a:rPr lang="en-US" sz="2000" dirty="0">
                <a:solidFill>
                  <a:srgbClr val="22D3EE"/>
                </a:solidFill>
                <a:latin typeface="Calibri" pitchFamily="34" charset="0"/>
                <a:ea typeface="Calibri" pitchFamily="34" charset="-122"/>
                <a:cs typeface="Calibri" pitchFamily="34" charset="-120"/>
              </a:rPr>
              <a:t>🏦</a:t>
            </a:r>
            <a:endParaRPr lang="en-US" sz="2000" dirty="0"/>
          </a:p>
        </p:txBody>
      </p:sp>
      <p:sp>
        <p:nvSpPr>
          <p:cNvPr id="16" name="Text 14"/>
          <p:cNvSpPr/>
          <p:nvPr/>
        </p:nvSpPr>
        <p:spPr>
          <a:xfrm>
            <a:off x="8412480" y="2514600"/>
            <a:ext cx="3017520" cy="457200"/>
          </a:xfrm>
          <a:prstGeom prst="rect">
            <a:avLst/>
          </a:prstGeom>
          <a:noFill/>
          <a:ln/>
        </p:spPr>
        <p:txBody>
          <a:bodyPr wrap="square" rtlCol="0" anchor="ctr"/>
          <a:lstStyle/>
          <a:p>
            <a:pPr indent="0" marL="0">
              <a:buNone/>
            </a:pPr>
            <a:r>
              <a:rPr lang="en-US" sz="2100" b="1" dirty="0">
                <a:solidFill>
                  <a:srgbClr val="22D3EE"/>
                </a:solidFill>
                <a:latin typeface="Arial" pitchFamily="34" charset="0"/>
                <a:ea typeface="Arial" pitchFamily="34" charset="-122"/>
                <a:cs typeface="Arial" pitchFamily="34" charset="-120"/>
              </a:rPr>
              <a:t>Last-mile blind</a:t>
            </a:r>
            <a:endParaRPr lang="en-US" sz="2100" dirty="0"/>
          </a:p>
        </p:txBody>
      </p:sp>
      <p:sp>
        <p:nvSpPr>
          <p:cNvPr id="17" name="Text 15"/>
          <p:cNvSpPr/>
          <p:nvPr/>
        </p:nvSpPr>
        <p:spPr>
          <a:xfrm>
            <a:off x="841248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Currency authentication lives in expensive fixed machines. Kirana stores, petrol pumps and rural correspondents rely on touch and instinct.</a:t>
            </a:r>
            <a:endParaRPr lang="en-US" sz="1350" dirty="0"/>
          </a:p>
        </p:txBody>
      </p:sp>
      <p:sp>
        <p:nvSpPr>
          <p:cNvPr id="18" name="Text 16"/>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9" name="Text 17"/>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PRAHARI: one command centre, three AI engines</a:t>
            </a:r>
            <a:endParaRPr lang="en-US" sz="3600" dirty="0"/>
          </a:p>
        </p:txBody>
      </p:sp>
      <p:sp>
        <p:nvSpPr>
          <p:cNvPr id="3" name="Text 1"/>
          <p:cNvSpPr/>
          <p:nvPr/>
        </p:nvSpPr>
        <p:spPr>
          <a:xfrm>
            <a:off x="457200" y="1097280"/>
            <a:ext cx="11247120" cy="411480"/>
          </a:xfrm>
          <a:prstGeom prst="rect">
            <a:avLst/>
          </a:prstGeom>
          <a:noFill/>
          <a:ln/>
        </p:spPr>
        <p:txBody>
          <a:bodyPr wrap="square" rtlCol="0" anchor="ctr"/>
          <a:lstStyle/>
          <a:p>
            <a:pPr indent="0" marL="0">
              <a:buNone/>
            </a:pPr>
            <a:r>
              <a:rPr lang="en-US" sz="1600" i="1" dirty="0">
                <a:solidFill>
                  <a:srgbClr val="8CA0C4"/>
                </a:solidFill>
                <a:latin typeface="Calibri" pitchFamily="34" charset="0"/>
                <a:ea typeface="Calibri" pitchFamily="34" charset="-122"/>
                <a:cs typeface="Calibri" pitchFamily="34" charset="-120"/>
              </a:rPr>
              <a:t>From reactive case investigation to predictive threat neutralisation</a:t>
            </a:r>
            <a:endParaRPr lang="en-US" sz="1600" dirty="0"/>
          </a:p>
        </p:txBody>
      </p:sp>
      <p:sp>
        <p:nvSpPr>
          <p:cNvPr id="4" name="Shape 2"/>
          <p:cNvSpPr/>
          <p:nvPr/>
        </p:nvSpPr>
        <p:spPr>
          <a:xfrm>
            <a:off x="548640" y="1737360"/>
            <a:ext cx="3520440" cy="4023360"/>
          </a:xfrm>
          <a:prstGeom prst="roundRect">
            <a:avLst>
              <a:gd name="adj" fmla="val 2078"/>
            </a:avLst>
          </a:prstGeom>
          <a:solidFill>
            <a:srgbClr val="141F38"/>
          </a:solidFill>
          <a:ln w="9525">
            <a:solidFill>
              <a:srgbClr val="24365C"/>
            </a:solidFill>
            <a:prstDash val="solid"/>
          </a:ln>
        </p:spPr>
      </p:sp>
      <p:sp>
        <p:nvSpPr>
          <p:cNvPr id="5" name="Shape 3"/>
          <p:cNvSpPr/>
          <p:nvPr/>
        </p:nvSpPr>
        <p:spPr>
          <a:xfrm>
            <a:off x="822960" y="2011680"/>
            <a:ext cx="502920" cy="502920"/>
          </a:xfrm>
          <a:prstGeom prst="ellipse">
            <a:avLst/>
          </a:prstGeom>
          <a:solidFill>
            <a:srgbClr val="22D3EE">
              <a:alpha val="18000"/>
            </a:srgbClr>
          </a:solidFill>
          <a:ln w="12700">
            <a:solidFill>
              <a:srgbClr val="22D3EE"/>
            </a:solidFill>
            <a:prstDash val="solid"/>
          </a:ln>
        </p:spPr>
      </p:sp>
      <p:sp>
        <p:nvSpPr>
          <p:cNvPr id="6" name="Text 4"/>
          <p:cNvSpPr/>
          <p:nvPr/>
        </p:nvSpPr>
        <p:spPr>
          <a:xfrm>
            <a:off x="731520" y="1993392"/>
            <a:ext cx="685800" cy="548640"/>
          </a:xfrm>
          <a:prstGeom prst="rect">
            <a:avLst/>
          </a:prstGeom>
          <a:noFill/>
          <a:ln/>
        </p:spPr>
        <p:txBody>
          <a:bodyPr wrap="square" rtlCol="0" anchor="ctr"/>
          <a:lstStyle/>
          <a:p>
            <a:pPr algn="ctr" indent="0" marL="0">
              <a:buNone/>
            </a:pPr>
            <a:r>
              <a:rPr lang="en-US" sz="2000" dirty="0">
                <a:solidFill>
                  <a:srgbClr val="22D3EE"/>
                </a:solidFill>
                <a:latin typeface="Calibri" pitchFamily="34" charset="0"/>
                <a:ea typeface="Calibri" pitchFamily="34" charset="-122"/>
                <a:cs typeface="Calibri" pitchFamily="34" charset="-120"/>
              </a:rPr>
              <a:t>🛡</a:t>
            </a:r>
            <a:endParaRPr lang="en-US" sz="2000" dirty="0"/>
          </a:p>
        </p:txBody>
      </p:sp>
      <p:sp>
        <p:nvSpPr>
          <p:cNvPr id="7" name="Text 5"/>
          <p:cNvSpPr/>
          <p:nvPr/>
        </p:nvSpPr>
        <p:spPr>
          <a:xfrm>
            <a:off x="822960" y="2697480"/>
            <a:ext cx="3017520" cy="411480"/>
          </a:xfrm>
          <a:prstGeom prst="rect">
            <a:avLst/>
          </a:prstGeom>
          <a:noFill/>
          <a:ln/>
        </p:spPr>
        <p:txBody>
          <a:bodyPr wrap="square" rtlCol="0" anchor="ctr"/>
          <a:lstStyle/>
          <a:p>
            <a:pPr indent="0" marL="0">
              <a:buNone/>
            </a:pPr>
            <a:r>
              <a:rPr lang="en-US" sz="1900" b="1" spc="100" kern="0" dirty="0">
                <a:solidFill>
                  <a:srgbClr val="22D3EE"/>
                </a:solidFill>
                <a:latin typeface="Arial" pitchFamily="34" charset="0"/>
                <a:ea typeface="Arial" pitchFamily="34" charset="-122"/>
                <a:cs typeface="Arial" pitchFamily="34" charset="-120"/>
              </a:rPr>
              <a:t>SCAM SHIELD</a:t>
            </a:r>
            <a:endParaRPr lang="en-US" sz="1900" dirty="0"/>
          </a:p>
        </p:txBody>
      </p:sp>
      <p:sp>
        <p:nvSpPr>
          <p:cNvPr id="8" name="Text 6"/>
          <p:cNvSpPr/>
          <p:nvPr/>
        </p:nvSpPr>
        <p:spPr>
          <a:xfrm>
            <a:off x="82296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Protects the citizen</a:t>
            </a:r>
            <a:endParaRPr lang="en-US" sz="1250" dirty="0"/>
          </a:p>
        </p:txBody>
      </p:sp>
      <p:sp>
        <p:nvSpPr>
          <p:cNvPr id="9" name="Text 7"/>
          <p:cNvSpPr/>
          <p:nvPr/>
        </p:nvSpPr>
        <p:spPr>
          <a:xfrm>
            <a:off x="82296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NLP classifier flags an active digital-arrest call in &lt;2 seconds — before the transfer — and auto-alerts victim, telecom and MHA/I4C.</a:t>
            </a:r>
            <a:endParaRPr lang="en-US" sz="1300" dirty="0"/>
          </a:p>
        </p:txBody>
      </p:sp>
      <p:sp>
        <p:nvSpPr>
          <p:cNvPr id="10" name="Shape 8"/>
          <p:cNvSpPr/>
          <p:nvPr/>
        </p:nvSpPr>
        <p:spPr>
          <a:xfrm>
            <a:off x="4343400" y="1737360"/>
            <a:ext cx="3520440" cy="4023360"/>
          </a:xfrm>
          <a:prstGeom prst="roundRect">
            <a:avLst>
              <a:gd name="adj" fmla="val 2078"/>
            </a:avLst>
          </a:prstGeom>
          <a:solidFill>
            <a:srgbClr val="141F38"/>
          </a:solidFill>
          <a:ln w="9525">
            <a:solidFill>
              <a:srgbClr val="24365C"/>
            </a:solidFill>
            <a:prstDash val="solid"/>
          </a:ln>
        </p:spPr>
      </p:sp>
      <p:sp>
        <p:nvSpPr>
          <p:cNvPr id="11" name="Shape 9"/>
          <p:cNvSpPr/>
          <p:nvPr/>
        </p:nvSpPr>
        <p:spPr>
          <a:xfrm>
            <a:off x="4617720" y="2011680"/>
            <a:ext cx="502920" cy="502920"/>
          </a:xfrm>
          <a:prstGeom prst="ellipse">
            <a:avLst/>
          </a:prstGeom>
          <a:solidFill>
            <a:srgbClr val="34D399">
              <a:alpha val="18000"/>
            </a:srgbClr>
          </a:solidFill>
          <a:ln w="12700">
            <a:solidFill>
              <a:srgbClr val="34D399"/>
            </a:solidFill>
            <a:prstDash val="solid"/>
          </a:ln>
        </p:spPr>
      </p:sp>
      <p:sp>
        <p:nvSpPr>
          <p:cNvPr id="12" name="Text 10"/>
          <p:cNvSpPr/>
          <p:nvPr/>
        </p:nvSpPr>
        <p:spPr>
          <a:xfrm>
            <a:off x="4526280" y="1993392"/>
            <a:ext cx="685800" cy="548640"/>
          </a:xfrm>
          <a:prstGeom prst="rect">
            <a:avLst/>
          </a:prstGeom>
          <a:noFill/>
          <a:ln/>
        </p:spPr>
        <p:txBody>
          <a:bodyPr wrap="square" rtlCol="0" anchor="ctr"/>
          <a:lstStyle/>
          <a:p>
            <a:pPr algn="ctr" indent="0" marL="0">
              <a:buNone/>
            </a:pPr>
            <a:r>
              <a:rPr lang="en-US" sz="2000" dirty="0">
                <a:solidFill>
                  <a:srgbClr val="34D399"/>
                </a:solidFill>
                <a:latin typeface="Calibri" pitchFamily="34" charset="0"/>
                <a:ea typeface="Calibri" pitchFamily="34" charset="-122"/>
                <a:cs typeface="Calibri" pitchFamily="34" charset="-120"/>
              </a:rPr>
              <a:t>🔍</a:t>
            </a:r>
            <a:endParaRPr lang="en-US" sz="2000" dirty="0"/>
          </a:p>
        </p:txBody>
      </p:sp>
      <p:sp>
        <p:nvSpPr>
          <p:cNvPr id="13" name="Text 11"/>
          <p:cNvSpPr/>
          <p:nvPr/>
        </p:nvSpPr>
        <p:spPr>
          <a:xfrm>
            <a:off x="4617720" y="2697480"/>
            <a:ext cx="3017520" cy="411480"/>
          </a:xfrm>
          <a:prstGeom prst="rect">
            <a:avLst/>
          </a:prstGeom>
          <a:noFill/>
          <a:ln/>
        </p:spPr>
        <p:txBody>
          <a:bodyPr wrap="square" rtlCol="0" anchor="ctr"/>
          <a:lstStyle/>
          <a:p>
            <a:pPr indent="0" marL="0">
              <a:buNone/>
            </a:pPr>
            <a:r>
              <a:rPr lang="en-US" sz="1900" b="1" spc="100" kern="0" dirty="0">
                <a:solidFill>
                  <a:srgbClr val="34D399"/>
                </a:solidFill>
                <a:latin typeface="Arial" pitchFamily="34" charset="0"/>
                <a:ea typeface="Arial" pitchFamily="34" charset="-122"/>
                <a:cs typeface="Arial" pitchFamily="34" charset="-120"/>
              </a:rPr>
              <a:t>FICN SCANNER</a:t>
            </a:r>
            <a:endParaRPr lang="en-US" sz="1900" dirty="0"/>
          </a:p>
        </p:txBody>
      </p:sp>
      <p:sp>
        <p:nvSpPr>
          <p:cNvPr id="14" name="Text 12"/>
          <p:cNvSpPr/>
          <p:nvPr/>
        </p:nvSpPr>
        <p:spPr>
          <a:xfrm>
            <a:off x="461772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Protects the cash economy</a:t>
            </a:r>
            <a:endParaRPr lang="en-US" sz="1250" dirty="0"/>
          </a:p>
        </p:txBody>
      </p:sp>
      <p:sp>
        <p:nvSpPr>
          <p:cNvPr id="15" name="Text 13"/>
          <p:cNvSpPr/>
          <p:nvPr/>
        </p:nvSpPr>
        <p:spPr>
          <a:xfrm>
            <a:off x="461772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Computer vision turns any smartphone or counting machine into a currency authenticator: 7 RBI security features + serial registry cross-match.</a:t>
            </a:r>
            <a:endParaRPr lang="en-US" sz="1300" dirty="0"/>
          </a:p>
        </p:txBody>
      </p:sp>
      <p:sp>
        <p:nvSpPr>
          <p:cNvPr id="16" name="Shape 14"/>
          <p:cNvSpPr/>
          <p:nvPr/>
        </p:nvSpPr>
        <p:spPr>
          <a:xfrm>
            <a:off x="8138160" y="1737360"/>
            <a:ext cx="3520440" cy="4023360"/>
          </a:xfrm>
          <a:prstGeom prst="roundRect">
            <a:avLst>
              <a:gd name="adj" fmla="val 2078"/>
            </a:avLst>
          </a:prstGeom>
          <a:solidFill>
            <a:srgbClr val="141F38"/>
          </a:solidFill>
          <a:ln w="9525">
            <a:solidFill>
              <a:srgbClr val="24365C"/>
            </a:solidFill>
            <a:prstDash val="solid"/>
          </a:ln>
        </p:spPr>
      </p:sp>
      <p:sp>
        <p:nvSpPr>
          <p:cNvPr id="17" name="Shape 15"/>
          <p:cNvSpPr/>
          <p:nvPr/>
        </p:nvSpPr>
        <p:spPr>
          <a:xfrm>
            <a:off x="8412480" y="2011680"/>
            <a:ext cx="502920" cy="502920"/>
          </a:xfrm>
          <a:prstGeom prst="ellipse">
            <a:avLst/>
          </a:prstGeom>
          <a:solidFill>
            <a:srgbClr val="F8536B">
              <a:alpha val="18000"/>
            </a:srgbClr>
          </a:solidFill>
          <a:ln w="12700">
            <a:solidFill>
              <a:srgbClr val="F8536B"/>
            </a:solidFill>
            <a:prstDash val="solid"/>
          </a:ln>
        </p:spPr>
      </p:sp>
      <p:sp>
        <p:nvSpPr>
          <p:cNvPr id="18" name="Text 16"/>
          <p:cNvSpPr/>
          <p:nvPr/>
        </p:nvSpPr>
        <p:spPr>
          <a:xfrm>
            <a:off x="8321040" y="1993392"/>
            <a:ext cx="685800" cy="548640"/>
          </a:xfrm>
          <a:prstGeom prst="rect">
            <a:avLst/>
          </a:prstGeom>
          <a:noFill/>
          <a:ln/>
        </p:spPr>
        <p:txBody>
          <a:bodyPr wrap="square" rtlCol="0" anchor="ctr"/>
          <a:lstStyle/>
          <a:p>
            <a:pPr algn="ctr" indent="0" marL="0">
              <a:buNone/>
            </a:pPr>
            <a:r>
              <a:rPr lang="en-US" sz="2000" dirty="0">
                <a:solidFill>
                  <a:srgbClr val="F8536B"/>
                </a:solidFill>
                <a:latin typeface="Calibri" pitchFamily="34" charset="0"/>
                <a:ea typeface="Calibri" pitchFamily="34" charset="-122"/>
                <a:cs typeface="Calibri" pitchFamily="34" charset="-120"/>
              </a:rPr>
              <a:t>🕸</a:t>
            </a:r>
            <a:endParaRPr lang="en-US" sz="2000" dirty="0"/>
          </a:p>
        </p:txBody>
      </p:sp>
      <p:sp>
        <p:nvSpPr>
          <p:cNvPr id="19" name="Text 17"/>
          <p:cNvSpPr/>
          <p:nvPr/>
        </p:nvSpPr>
        <p:spPr>
          <a:xfrm>
            <a:off x="8412480" y="2697480"/>
            <a:ext cx="3017520" cy="411480"/>
          </a:xfrm>
          <a:prstGeom prst="rect">
            <a:avLst/>
          </a:prstGeom>
          <a:noFill/>
          <a:ln/>
        </p:spPr>
        <p:txBody>
          <a:bodyPr wrap="square" rtlCol="0" anchor="ctr"/>
          <a:lstStyle/>
          <a:p>
            <a:pPr indent="0" marL="0">
              <a:buNone/>
            </a:pPr>
            <a:r>
              <a:rPr lang="en-US" sz="1900" b="1" spc="100" kern="0" dirty="0">
                <a:solidFill>
                  <a:srgbClr val="F8536B"/>
                </a:solidFill>
                <a:latin typeface="Arial" pitchFamily="34" charset="0"/>
                <a:ea typeface="Arial" pitchFamily="34" charset="-122"/>
                <a:cs typeface="Arial" pitchFamily="34" charset="-120"/>
              </a:rPr>
              <a:t>NETWORK INTEL</a:t>
            </a:r>
            <a:endParaRPr lang="en-US" sz="1900" dirty="0"/>
          </a:p>
        </p:txBody>
      </p:sp>
      <p:sp>
        <p:nvSpPr>
          <p:cNvPr id="20" name="Text 18"/>
          <p:cNvSpPr/>
          <p:nvPr/>
        </p:nvSpPr>
        <p:spPr>
          <a:xfrm>
            <a:off x="841248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Dismantles the network</a:t>
            </a:r>
            <a:endParaRPr lang="en-US" sz="1250" dirty="0"/>
          </a:p>
        </p:txBody>
      </p:sp>
      <p:sp>
        <p:nvSpPr>
          <p:cNvPr id="21" name="Text 19"/>
          <p:cNvSpPr/>
          <p:nvPr/>
        </p:nvSpPr>
        <p:spPr>
          <a:xfrm>
            <a:off x="841248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Graph AI fuses reports, VoIP signatures, device fingerprints and mule accounts — exposing the campaign and exporting court-ready evidence.</a:t>
            </a:r>
            <a:endParaRPr lang="en-US" sz="1300" dirty="0"/>
          </a:p>
        </p:txBody>
      </p:sp>
      <p:sp>
        <p:nvSpPr>
          <p:cNvPr id="22" name="Text 20"/>
          <p:cNvSpPr/>
          <p:nvPr/>
        </p:nvSpPr>
        <p:spPr>
          <a:xfrm>
            <a:off x="548640" y="5943600"/>
            <a:ext cx="11064240" cy="411480"/>
          </a:xfrm>
          <a:prstGeom prst="rect">
            <a:avLst/>
          </a:prstGeom>
          <a:noFill/>
          <a:ln/>
        </p:spPr>
        <p:txBody>
          <a:bodyPr wrap="square" rtlCol="0" anchor="ctr"/>
          <a:lstStyle/>
          <a:p>
            <a:pPr algn="ctr" indent="0" marL="0">
              <a:buNone/>
            </a:pPr>
            <a:r>
              <a:rPr lang="en-US" sz="1350" dirty="0">
                <a:solidFill>
                  <a:srgbClr val="22D3EE"/>
                </a:solidFill>
                <a:latin typeface="Calibri" pitchFamily="34" charset="0"/>
                <a:ea typeface="Calibri" pitchFamily="34" charset="-122"/>
                <a:cs typeface="Calibri" pitchFamily="34" charset="-120"/>
              </a:rPr>
              <a:t>+ Command Centre threat map · Live Intercept plays REAL FTC scam recordings &amp; neural-TTS calls, intercepted live · Citizen Shield chat in English &amp; Hindi</a:t>
            </a:r>
            <a:endParaRPr lang="en-US" sz="1350" dirty="0"/>
          </a:p>
        </p:txBody>
      </p:sp>
      <p:sp>
        <p:nvSpPr>
          <p:cNvPr id="23" name="Text 2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24" name="Text 2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product — live at sanskar9999.github.io/prahari</a:t>
            </a:r>
            <a:endParaRPr lang="en-US" sz="3400" dirty="0"/>
          </a:p>
        </p:txBody>
      </p:sp>
      <p:pic>
        <p:nvPicPr>
          <p:cNvPr id="3" name="Image 0" descr="C:\Users\91800\Desktop\ET Hack 2\Screenshots\Prahari_Command_Center.png">    </p:cNvPr>
          <p:cNvPicPr>
            <a:picLocks noChangeAspect="1"/>
          </p:cNvPicPr>
          <p:nvPr/>
        </p:nvPicPr>
        <p:blipFill>
          <a:blip r:embed="rId1"/>
          <a:stretch>
            <a:fillRect/>
          </a:stretch>
        </p:blipFill>
        <p:spPr>
          <a:xfrm>
            <a:off x="548640" y="1463040"/>
            <a:ext cx="5532120" cy="3108960"/>
          </a:xfrm>
          <a:prstGeom prst="rect">
            <a:avLst/>
          </a:prstGeom>
        </p:spPr>
      </p:pic>
      <p:sp>
        <p:nvSpPr>
          <p:cNvPr id="4" name="Text 1"/>
          <p:cNvSpPr/>
          <p:nvPr/>
        </p:nvSpPr>
        <p:spPr>
          <a:xfrm>
            <a:off x="548640" y="4617720"/>
            <a:ext cx="5532120" cy="457200"/>
          </a:xfrm>
          <a:prstGeom prst="rect">
            <a:avLst/>
          </a:prstGeom>
          <a:noFill/>
          <a:ln/>
        </p:spPr>
        <p:txBody>
          <a:bodyPr wrap="square" rtlCol="0" anchor="ctr"/>
          <a:lstStyle/>
          <a:p>
            <a:pPr algn="ctr" indent="0" marL="0">
              <a:buNone/>
            </a:pPr>
            <a:r>
              <a:rPr lang="en-US" sz="1250" dirty="0">
                <a:solidFill>
                  <a:srgbClr val="8CA0C4"/>
                </a:solidFill>
                <a:latin typeface="Calibri" pitchFamily="34" charset="0"/>
                <a:ea typeface="Calibri" pitchFamily="34" charset="-122"/>
                <a:cs typeface="Calibri" pitchFamily="34" charset="-120"/>
              </a:rPr>
              <a:t>National Command Centre — live threat map + fused intelligence feed</a:t>
            </a:r>
            <a:endParaRPr lang="en-US" sz="1250" dirty="0"/>
          </a:p>
        </p:txBody>
      </p:sp>
      <p:pic>
        <p:nvPicPr>
          <p:cNvPr id="5" name="Image 1" descr="C:\Users\91800\Desktop\ET Hack 2\Screenshots\Live_Intercept.png">    </p:cNvPr>
          <p:cNvPicPr>
            <a:picLocks noChangeAspect="1"/>
          </p:cNvPicPr>
          <p:nvPr/>
        </p:nvPicPr>
        <p:blipFill>
          <a:blip r:embed="rId2"/>
          <a:stretch>
            <a:fillRect/>
          </a:stretch>
        </p:blipFill>
        <p:spPr>
          <a:xfrm>
            <a:off x="6309360" y="1463040"/>
            <a:ext cx="5532120" cy="3108960"/>
          </a:xfrm>
          <a:prstGeom prst="rect">
            <a:avLst/>
          </a:prstGeom>
        </p:spPr>
      </p:pic>
      <p:sp>
        <p:nvSpPr>
          <p:cNvPr id="6" name="Text 2"/>
          <p:cNvSpPr/>
          <p:nvPr/>
        </p:nvSpPr>
        <p:spPr>
          <a:xfrm>
            <a:off x="6309360" y="4617720"/>
            <a:ext cx="5532120" cy="457200"/>
          </a:xfrm>
          <a:prstGeom prst="rect">
            <a:avLst/>
          </a:prstGeom>
          <a:noFill/>
          <a:ln/>
        </p:spPr>
        <p:txBody>
          <a:bodyPr wrap="square" rtlCol="0" anchor="ctr"/>
          <a:lstStyle/>
          <a:p>
            <a:pPr algn="ctr" indent="0" marL="0">
              <a:buNone/>
            </a:pPr>
            <a:r>
              <a:rPr lang="en-US" sz="1250" dirty="0">
                <a:solidFill>
                  <a:srgbClr val="8CA0C4"/>
                </a:solidFill>
                <a:latin typeface="Calibri" pitchFamily="34" charset="0"/>
                <a:ea typeface="Calibri" pitchFamily="34" charset="-122"/>
                <a:cs typeface="Calibri" pitchFamily="34" charset="-120"/>
              </a:rPr>
              <a:t>Live Intercept — a REAL scam recording transcribed, scored and cut off mid-sentence</a:t>
            </a:r>
            <a:endParaRPr lang="en-US" sz="1250" dirty="0"/>
          </a:p>
        </p:txBody>
      </p:sp>
      <p:sp>
        <p:nvSpPr>
          <p:cNvPr id="7" name="Text 3"/>
          <p:cNvSpPr/>
          <p:nvPr/>
        </p:nvSpPr>
        <p:spPr>
          <a:xfrm>
            <a:off x="548640" y="5394960"/>
            <a:ext cx="11247120" cy="457200"/>
          </a:xfrm>
          <a:prstGeom prst="rect">
            <a:avLst/>
          </a:prstGeom>
          <a:noFill/>
          <a:ln/>
        </p:spPr>
        <p:txBody>
          <a:bodyPr wrap="square" rtlCol="0" anchor="ctr"/>
          <a:lstStyle/>
          <a:p>
            <a:pPr algn="ctr" indent="0" marL="0">
              <a:buNone/>
            </a:pPr>
            <a:r>
              <a:rPr lang="en-US" sz="1400" i="1" dirty="0">
                <a:solidFill>
                  <a:srgbClr val="22D3EE"/>
                </a:solidFill>
                <a:latin typeface="Calibri" pitchFamily="34" charset="0"/>
                <a:ea typeface="Calibri" pitchFamily="34" charset="-122"/>
                <a:cs typeface="Calibri" pitchFamily="34" charset="-120"/>
              </a:rPr>
              <a:t>Fully static web app — every model runs in the browser. Works on judges' phones, no install.</a:t>
            </a:r>
            <a:endParaRPr lang="en-US" sz="1400" dirty="0"/>
          </a:p>
        </p:txBody>
      </p:sp>
      <p:sp>
        <p:nvSpPr>
          <p:cNvPr id="8" name="Text 4"/>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9" name="Text 5"/>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Scam Shield — stopping the scam mid-call</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How it works</a:t>
            </a:r>
            <a:endParaRPr lang="en-US" sz="1600" dirty="0"/>
          </a:p>
        </p:txBody>
      </p:sp>
      <p:sp>
        <p:nvSpPr>
          <p:cNvPr id="5" name="Text 3"/>
          <p:cNvSpPr/>
          <p:nvPr/>
        </p:nvSpPr>
        <p:spPr>
          <a:xfrm>
            <a:off x="822960" y="2103120"/>
            <a:ext cx="6126480" cy="3931920"/>
          </a:xfrm>
          <a:prstGeom prst="rect">
            <a:avLst/>
          </a:prstGeom>
          <a:noFill/>
          <a:ln/>
        </p:spPr>
        <p:txBody>
          <a:bodyPr wrap="square" rtlCol="0" anchor="ctr"/>
          <a:lstStyle/>
          <a:p>
            <a:pPr indent="0" marL="0">
              <a:lnSpc>
                <a:spcPts val="2200"/>
              </a:lnSpc>
              <a:buNone/>
            </a:pPr>
            <a:r>
              <a:rPr lang="en-US" sz="1400" dirty="0">
                <a:solidFill>
                  <a:srgbClr val="DBE6F7"/>
                </a:solidFill>
                <a:latin typeface="Calibri" pitchFamily="34" charset="0"/>
                <a:ea typeface="Calibri" pitchFamily="34" charset="-122"/>
                <a:cs typeface="Calibri" pitchFamily="34" charset="-120"/>
              </a:rPr>
              <a:t>Live transcript is scored against five behavioural signal categories drawn from I4C-documented scam playbooks:
</a:t>
            </a:r>
            <a:endParaRPr lang="en-US" sz="1400" dirty="0"/>
          </a:p>
          <a:p>
            <a:pPr indent="0" marL="0">
              <a:lnSpc>
                <a:spcPts val="2200"/>
              </a:lnSpc>
              <a:buNone/>
            </a:pPr>
            <a:r>
              <a:rPr lang="en-US" sz="1400" dirty="0">
                <a:solidFill>
                  <a:srgbClr val="F8536B"/>
                </a:solidFill>
                <a:latin typeface="Calibri" pitchFamily="34" charset="0"/>
                <a:ea typeface="Calibri" pitchFamily="34" charset="-122"/>
                <a:cs typeface="Calibri" pitchFamily="34" charset="-120"/>
              </a:rPr>
              <a:t>1  Authority impersonation — “CBI officer”, “arrest warrant”
</a:t>
            </a:r>
            <a:pPr indent="0" marL="0">
              <a:lnSpc>
                <a:spcPts val="2200"/>
              </a:lnSpc>
              <a:buNone/>
            </a:pPr>
            <a:r>
              <a:rPr lang="en-US" sz="1400" dirty="0">
                <a:solidFill>
                  <a:srgbClr val="C084FC"/>
                </a:solidFill>
                <a:latin typeface="Calibri" pitchFamily="34" charset="0"/>
                <a:ea typeface="Calibri" pitchFamily="34" charset="-122"/>
                <a:cs typeface="Calibri" pitchFamily="34" charset="-120"/>
              </a:rPr>
              <a:t>2  Victim isolation — “do not disconnect”, “tell no one”
</a:t>
            </a:r>
            <a:pPr indent="0" marL="0">
              <a:lnSpc>
                <a:spcPts val="2200"/>
              </a:lnSpc>
              <a:buNone/>
            </a:pPr>
            <a:r>
              <a:rPr lang="en-US" sz="1400" dirty="0">
                <a:solidFill>
                  <a:srgbClr val="FBBF24"/>
                </a:solidFill>
                <a:latin typeface="Calibri" pitchFamily="34" charset="0"/>
                <a:ea typeface="Calibri" pitchFamily="34" charset="-122"/>
                <a:cs typeface="Calibri" pitchFamily="34" charset="-120"/>
              </a:rPr>
              <a:t>3  Urgency &amp; fear — “within 30 minutes”, “non-bailable”
</a:t>
            </a:r>
            <a:pPr indent="0" marL="0">
              <a:lnSpc>
                <a:spcPts val="2200"/>
              </a:lnSpc>
              <a:buNone/>
            </a:pPr>
            <a:r>
              <a:rPr lang="en-US" sz="1400" dirty="0">
                <a:solidFill>
                  <a:srgbClr val="22D3EE"/>
                </a:solidFill>
                <a:latin typeface="Calibri" pitchFamily="34" charset="0"/>
                <a:ea typeface="Calibri" pitchFamily="34" charset="-122"/>
                <a:cs typeface="Calibri" pitchFamily="34" charset="-120"/>
              </a:rPr>
              <a:t>4  Financial extraction — “safe account”, “RTGS immediately”
</a:t>
            </a:r>
            <a:pPr indent="0" marL="0">
              <a:lnSpc>
                <a:spcPts val="2200"/>
              </a:lnSpc>
              <a:buNone/>
            </a:pPr>
            <a:r>
              <a:rPr lang="en-US" sz="1400" dirty="0">
                <a:solidFill>
                  <a:srgbClr val="34D399"/>
                </a:solidFill>
                <a:latin typeface="Calibri" pitchFamily="34" charset="0"/>
                <a:ea typeface="Calibri" pitchFamily="34" charset="-122"/>
                <a:cs typeface="Calibri" pitchFamily="34" charset="-120"/>
              </a:rPr>
              <a:t>5  Identity harvesting — Aadhaar, OTP, net-banking access
</a:t>
            </a:r>
            <a:pPr indent="0" marL="0">
              <a:lnSpc>
                <a:spcPts val="2200"/>
              </a:lnSpc>
              <a:buNone/>
            </a:pPr>
            <a:r>
              <a:rPr lang="en-US" sz="1400" dirty="0">
                <a:solidFill>
                  <a:srgbClr val="DBE6F7"/>
                </a:solidFill>
                <a:latin typeface="Calibri" pitchFamily="34" charset="0"/>
                <a:ea typeface="Calibri" pitchFamily="34" charset="-122"/>
                <a:cs typeface="Calibri" pitchFamily="34" charset="-120"/>
              </a:rPr>
              <a:t>Weighted signal fusion means no single keyword can trigger a false alarm — a genuine bank call scores near zero. Verdicts are explainable, phrase by phrase.</a:t>
            </a:r>
            <a:endParaRPr lang="en-US" sz="1400" dirty="0"/>
          </a:p>
        </p:txBody>
      </p:sp>
      <p:sp>
        <p:nvSpPr>
          <p:cNvPr id="6" name="Shape 4"/>
          <p:cNvSpPr/>
          <p:nvPr/>
        </p:nvSpPr>
        <p:spPr>
          <a:xfrm>
            <a:off x="7498080" y="1463040"/>
            <a:ext cx="4114800" cy="2194560"/>
          </a:xfrm>
          <a:prstGeom prst="roundRect">
            <a:avLst>
              <a:gd name="adj" fmla="val 3333"/>
            </a:avLst>
          </a:prstGeom>
          <a:solidFill>
            <a:srgbClr val="1A0F1A"/>
          </a:solidFill>
          <a:ln w="9525">
            <a:solidFill>
              <a:srgbClr val="24365C"/>
            </a:solidFill>
            <a:prstDash val="solid"/>
          </a:ln>
        </p:spPr>
      </p:sp>
      <p:sp>
        <p:nvSpPr>
          <p:cNvPr id="7" name="Text 5"/>
          <p:cNvSpPr/>
          <p:nvPr/>
        </p:nvSpPr>
        <p:spPr>
          <a:xfrm>
            <a:off x="7726680" y="1691640"/>
            <a:ext cx="3657600" cy="640080"/>
          </a:xfrm>
          <a:prstGeom prst="rect">
            <a:avLst/>
          </a:prstGeom>
          <a:noFill/>
          <a:ln/>
        </p:spPr>
        <p:txBody>
          <a:bodyPr wrap="square" rtlCol="0" anchor="ctr"/>
          <a:lstStyle/>
          <a:p>
            <a:pPr indent="0" marL="0">
              <a:buNone/>
            </a:pPr>
            <a:r>
              <a:rPr lang="en-US" sz="1600" b="1" dirty="0">
                <a:solidFill>
                  <a:srgbClr val="F8536B"/>
                </a:solidFill>
                <a:latin typeface="Arial" pitchFamily="34" charset="0"/>
                <a:ea typeface="Arial" pitchFamily="34" charset="-122"/>
                <a:cs typeface="Arial" pitchFamily="34" charset="-120"/>
              </a:rPr>
              <a:t>🚨 DIGITAL ARREST SCAM DETECTED</a:t>
            </a:r>
            <a:endParaRPr lang="en-US" sz="1600" dirty="0"/>
          </a:p>
        </p:txBody>
      </p:sp>
      <p:sp>
        <p:nvSpPr>
          <p:cNvPr id="8" name="Text 6"/>
          <p:cNvSpPr/>
          <p:nvPr/>
        </p:nvSpPr>
        <p:spPr>
          <a:xfrm>
            <a:off x="7726680" y="2377440"/>
            <a:ext cx="3657600" cy="731520"/>
          </a:xfrm>
          <a:prstGeom prst="rect">
            <a:avLst/>
          </a:prstGeom>
          <a:noFill/>
          <a:ln/>
        </p:spPr>
        <p:txBody>
          <a:bodyPr wrap="square" rtlCol="0" anchor="ctr"/>
          <a:lstStyle/>
          <a:p>
            <a:pPr indent="0" marL="0">
              <a:buNone/>
            </a:pPr>
            <a:r>
              <a:rPr lang="en-US" sz="1300" dirty="0">
                <a:solidFill>
                  <a:srgbClr val="DBE6F7"/>
                </a:solidFill>
                <a:latin typeface="Calibri" pitchFamily="34" charset="0"/>
                <a:ea typeface="Calibri" pitchFamily="34" charset="-122"/>
                <a:cs typeface="Calibri" pitchFamily="34" charset="-120"/>
              </a:rPr>
              <a:t>Risk 97/100 · verdict in &lt;2s</a:t>
            </a:r>
            <a:endParaRPr lang="en-US" sz="1300" dirty="0"/>
          </a:p>
          <a:p>
            <a:pPr indent="0" marL="0">
              <a:buNone/>
            </a:pPr>
            <a:r>
              <a:rPr lang="en-US" sz="1300" dirty="0">
                <a:solidFill>
                  <a:srgbClr val="DBE6F7"/>
                </a:solidFill>
                <a:latin typeface="Calibri" pitchFamily="34" charset="0"/>
                <a:ea typeface="Calibri" pitchFamily="34" charset="-122"/>
                <a:cs typeface="Calibri" pitchFamily="34" charset="-120"/>
              </a:rPr>
              <a:t>Victim alerted before the transfer</a:t>
            </a:r>
            <a:endParaRPr lang="en-US" sz="1300" dirty="0"/>
          </a:p>
        </p:txBody>
      </p:sp>
      <p:sp>
        <p:nvSpPr>
          <p:cNvPr id="9" name="Text 7"/>
          <p:cNvSpPr/>
          <p:nvPr/>
        </p:nvSpPr>
        <p:spPr>
          <a:xfrm>
            <a:off x="7726680" y="3063240"/>
            <a:ext cx="3657600" cy="548640"/>
          </a:xfrm>
          <a:prstGeom prst="rect">
            <a:avLst/>
          </a:prstGeom>
          <a:noFill/>
          <a:ln/>
        </p:spPr>
        <p:txBody>
          <a:bodyPr wrap="square" rtlCol="0" anchor="ctr"/>
          <a:lstStyle/>
          <a:p>
            <a:pPr indent="0" marL="0">
              <a:buNone/>
            </a:pPr>
            <a:r>
              <a:rPr lang="en-US" sz="1100" dirty="0">
                <a:solidFill>
                  <a:srgbClr val="8CA0C4"/>
                </a:solidFill>
                <a:latin typeface="Calibri" pitchFamily="34" charset="0"/>
                <a:ea typeface="Calibri" pitchFamily="34" charset="-122"/>
                <a:cs typeface="Calibri" pitchFamily="34" charset="-120"/>
              </a:rPr>
              <a:t>✓ Victim device push-alert</a:t>
            </a:r>
            <a:endParaRPr lang="en-US" sz="1100" dirty="0"/>
          </a:p>
          <a:p>
            <a:pPr indent="0" marL="0">
              <a:buNone/>
            </a:pPr>
            <a:r>
              <a:rPr lang="en-US" sz="1100" dirty="0">
                <a:solidFill>
                  <a:srgbClr val="8CA0C4"/>
                </a:solidFill>
                <a:latin typeface="Calibri" pitchFamily="34" charset="0"/>
                <a:ea typeface="Calibri" pitchFamily="34" charset="-122"/>
                <a:cs typeface="Calibri" pitchFamily="34" charset="-120"/>
              </a:rPr>
              <a:t>✓ Telecom spoof-block request</a:t>
            </a:r>
            <a:endParaRPr lang="en-US" sz="1100" dirty="0"/>
          </a:p>
          <a:p>
            <a:pPr indent="0" marL="0">
              <a:buNone/>
            </a:pPr>
            <a:r>
              <a:rPr lang="en-US" sz="1100" dirty="0">
                <a:solidFill>
                  <a:srgbClr val="8CA0C4"/>
                </a:solidFill>
                <a:latin typeface="Calibri" pitchFamily="34" charset="0"/>
                <a:ea typeface="Calibri" pitchFamily="34" charset="-122"/>
                <a:cs typeface="Calibri" pitchFamily="34" charset="-120"/>
              </a:rPr>
              <a:t>✓ MHA / I4C report auto-generated</a:t>
            </a:r>
            <a:endParaRPr lang="en-US" sz="1100" dirty="0"/>
          </a:p>
        </p:txBody>
      </p:sp>
      <p:sp>
        <p:nvSpPr>
          <p:cNvPr id="10" name="Shape 8"/>
          <p:cNvSpPr/>
          <p:nvPr/>
        </p:nvSpPr>
        <p:spPr>
          <a:xfrm>
            <a:off x="7498080" y="3931920"/>
            <a:ext cx="4114800" cy="2286000"/>
          </a:xfrm>
          <a:prstGeom prst="roundRect">
            <a:avLst>
              <a:gd name="adj" fmla="val 3200"/>
            </a:avLst>
          </a:prstGeom>
          <a:solidFill>
            <a:srgbClr val="141F38"/>
          </a:solidFill>
          <a:ln w="9525">
            <a:solidFill>
              <a:srgbClr val="24365C"/>
            </a:solidFill>
            <a:prstDash val="solid"/>
          </a:ln>
        </p:spPr>
      </p:sp>
      <p:sp>
        <p:nvSpPr>
          <p:cNvPr id="11" name="Text 9"/>
          <p:cNvSpPr/>
          <p:nvPr/>
        </p:nvSpPr>
        <p:spPr>
          <a:xfrm>
            <a:off x="7726680" y="4114800"/>
            <a:ext cx="3657600" cy="365760"/>
          </a:xfrm>
          <a:prstGeom prst="rect">
            <a:avLst/>
          </a:prstGeom>
          <a:noFill/>
          <a:ln/>
        </p:spPr>
        <p:txBody>
          <a:bodyPr wrap="square"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Real, not staged</a:t>
            </a:r>
            <a:endParaRPr lang="en-US" sz="1400" dirty="0"/>
          </a:p>
        </p:txBody>
      </p:sp>
      <p:sp>
        <p:nvSpPr>
          <p:cNvPr id="12" name="Text 10"/>
          <p:cNvSpPr/>
          <p:nvPr/>
        </p:nvSpPr>
        <p:spPr>
          <a:xfrm>
            <a:off x="7726680" y="4526280"/>
            <a:ext cx="3657600" cy="1554480"/>
          </a:xfrm>
          <a:prstGeom prst="rect">
            <a:avLst/>
          </a:prstGeom>
          <a:noFill/>
          <a:ln/>
        </p:spPr>
        <p:txBody>
          <a:bodyPr wrap="square" rtlCol="0" anchor="ctr"/>
          <a:lstStyle/>
          <a:p>
            <a:pPr indent="0" marL="0">
              <a:lnSpc>
                <a:spcPts val="1700"/>
              </a:lnSpc>
              <a:buNone/>
            </a:pPr>
            <a:r>
              <a:rPr lang="en-US" sz="1200" dirty="0">
                <a:solidFill>
                  <a:srgbClr val="DBE6F7"/>
                </a:solidFill>
                <a:latin typeface="Calibri" pitchFamily="34" charset="0"/>
                <a:ea typeface="Calibri" pitchFamily="34" charset="-122"/>
                <a:cs typeface="Calibri" pitchFamily="34" charset="-120"/>
              </a:rPr>
              <a:t>A REAL scam robocall (FTC evidence, Whisper-transcribed) is intercepted mid-sentence with no hand-tuned trigger. Live Mic classifies the presenter's own voice via real speech-to-text. FICN model: 5/5 on held-out real note photos.</a:t>
            </a:r>
            <a:endParaRPr lang="en-US" sz="1200" dirty="0"/>
          </a:p>
        </p:txBody>
      </p:sp>
      <p:sp>
        <p:nvSpPr>
          <p:cNvPr id="13" name="Text 1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4" name="Text 1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FICN Scanner — every phone becomes a detector</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Seven-point RBI security-feature verification</a:t>
            </a:r>
            <a:endParaRPr lang="en-US" sz="1600" dirty="0"/>
          </a:p>
        </p:txBody>
      </p:sp>
      <p:sp>
        <p:nvSpPr>
          <p:cNvPr id="5" name="Text 3"/>
          <p:cNvSpPr/>
          <p:nvPr/>
        </p:nvSpPr>
        <p:spPr>
          <a:xfrm>
            <a:off x="822960" y="2103120"/>
            <a:ext cx="6126480" cy="2377440"/>
          </a:xfrm>
          <a:prstGeom prst="rect">
            <a:avLst/>
          </a:prstGeom>
          <a:noFill/>
          <a:ln/>
        </p:spPr>
        <p:txBody>
          <a:bodyPr wrap="square" rtlCol="0" anchor="ctr"/>
          <a:lstStyle/>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Windowed colour-shift security thread</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Mahatma Gandhi watermark + electrotype</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Microlettering “RBI 500”</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Portrait intaglio relief (raised-ink signature)</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See-through register (₹ motif)</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Latent image &amp; colour-shift ink</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Serial-number font, checksum &amp; ascending pattern</a:t>
            </a:r>
            <a:endParaRPr lang="en-US" sz="1450" dirty="0"/>
          </a:p>
        </p:txBody>
      </p:sp>
      <p:sp>
        <p:nvSpPr>
          <p:cNvPr id="6" name="Text 4"/>
          <p:cNvSpPr/>
          <p:nvPr/>
        </p:nvSpPr>
        <p:spPr>
          <a:xfrm>
            <a:off x="822960" y="4709160"/>
            <a:ext cx="6126480" cy="1280160"/>
          </a:xfrm>
          <a:prstGeom prst="rect">
            <a:avLst/>
          </a:prstGeom>
          <a:noFill/>
          <a:ln/>
        </p:spPr>
        <p:txBody>
          <a:bodyPr wrap="square" rtlCol="0" anchor="ctr"/>
          <a:lstStyle/>
          <a:p>
            <a:pPr indent="0" marL="0">
              <a:lnSpc>
                <a:spcPts val="2100"/>
              </a:lnSpc>
              <a:buNone/>
            </a:pPr>
            <a:r>
              <a:rPr lang="en-US" sz="1400" i="1" dirty="0">
                <a:solidFill>
                  <a:srgbClr val="22D3EE"/>
                </a:solidFill>
                <a:latin typeface="Calibri" pitchFamily="34" charset="0"/>
                <a:ea typeface="Calibri" pitchFamily="34" charset="-122"/>
                <a:cs typeface="Calibri" pitchFamily="34" charset="-120"/>
              </a:rPr>
              <a:t>The differentiator: every scanned serial is cross-checked against the national FICN seizure registry — linking a note in a kirana store to a known smuggling corridor batch in real time.</a:t>
            </a:r>
            <a:endParaRPr lang="en-US" sz="1400" dirty="0"/>
          </a:p>
        </p:txBody>
      </p:sp>
      <p:sp>
        <p:nvSpPr>
          <p:cNvPr id="7" name="Shape 5"/>
          <p:cNvSpPr/>
          <p:nvPr/>
        </p:nvSpPr>
        <p:spPr>
          <a:xfrm>
            <a:off x="7498080" y="1463040"/>
            <a:ext cx="4114800" cy="2194560"/>
          </a:xfrm>
          <a:prstGeom prst="roundRect">
            <a:avLst>
              <a:gd name="adj" fmla="val 3333"/>
            </a:avLst>
          </a:prstGeom>
          <a:solidFill>
            <a:srgbClr val="1A0F14"/>
          </a:solidFill>
          <a:ln w="9525">
            <a:solidFill>
              <a:srgbClr val="24365C"/>
            </a:solidFill>
            <a:prstDash val="solid"/>
          </a:ln>
        </p:spPr>
      </p:sp>
      <p:sp>
        <p:nvSpPr>
          <p:cNvPr id="8" name="Text 6"/>
          <p:cNvSpPr/>
          <p:nvPr/>
        </p:nvSpPr>
        <p:spPr>
          <a:xfrm>
            <a:off x="7726680" y="1691640"/>
            <a:ext cx="3657600" cy="457200"/>
          </a:xfrm>
          <a:prstGeom prst="rect">
            <a:avLst/>
          </a:prstGeom>
          <a:noFill/>
          <a:ln/>
        </p:spPr>
        <p:txBody>
          <a:bodyPr wrap="square" rtlCol="0" anchor="ctr"/>
          <a:lstStyle/>
          <a:p>
            <a:pPr indent="0" marL="0">
              <a:buNone/>
            </a:pPr>
            <a:r>
              <a:rPr lang="en-US" sz="1600" b="1" dirty="0">
                <a:solidFill>
                  <a:srgbClr val="F8536B"/>
                </a:solidFill>
                <a:latin typeface="Arial" pitchFamily="34" charset="0"/>
                <a:ea typeface="Arial" pitchFamily="34" charset="-122"/>
                <a:cs typeface="Arial" pitchFamily="34" charset="-120"/>
              </a:rPr>
              <a:t>🚨 COUNTERFEIT DETECTED</a:t>
            </a:r>
            <a:endParaRPr lang="en-US" sz="1600" dirty="0"/>
          </a:p>
        </p:txBody>
      </p:sp>
      <p:sp>
        <p:nvSpPr>
          <p:cNvPr id="9" name="Text 7"/>
          <p:cNvSpPr/>
          <p:nvPr/>
        </p:nvSpPr>
        <p:spPr>
          <a:xfrm>
            <a:off x="7726680" y="2194560"/>
            <a:ext cx="3657600" cy="128016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Authenticity 14.6% · 6/7 features failed</a:t>
            </a:r>
            <a:endParaRPr lang="en-US" sz="1250" dirty="0"/>
          </a:p>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Serial matched to seized batch #F-118 (Malda corridor) · NCRB seizure report pre-filled</a:t>
            </a:r>
            <a:endParaRPr lang="en-US" sz="1250" dirty="0"/>
          </a:p>
        </p:txBody>
      </p:sp>
      <p:sp>
        <p:nvSpPr>
          <p:cNvPr id="10" name="Shape 8"/>
          <p:cNvSpPr/>
          <p:nvPr/>
        </p:nvSpPr>
        <p:spPr>
          <a:xfrm>
            <a:off x="7498080" y="3931920"/>
            <a:ext cx="4114800" cy="2286000"/>
          </a:xfrm>
          <a:prstGeom prst="roundRect">
            <a:avLst>
              <a:gd name="adj" fmla="val 3200"/>
            </a:avLst>
          </a:prstGeom>
          <a:solidFill>
            <a:srgbClr val="141F38"/>
          </a:solidFill>
          <a:ln w="9525">
            <a:solidFill>
              <a:srgbClr val="24365C"/>
            </a:solidFill>
            <a:prstDash val="solid"/>
          </a:ln>
        </p:spPr>
      </p:sp>
      <p:sp>
        <p:nvSpPr>
          <p:cNvPr id="11" name="Text 9"/>
          <p:cNvSpPr/>
          <p:nvPr/>
        </p:nvSpPr>
        <p:spPr>
          <a:xfrm>
            <a:off x="7726680" y="4114800"/>
            <a:ext cx="3657600" cy="365760"/>
          </a:xfrm>
          <a:prstGeom prst="rect">
            <a:avLst/>
          </a:prstGeom>
          <a:noFill/>
          <a:ln/>
        </p:spPr>
        <p:txBody>
          <a:bodyPr wrap="square" rtlCol="0" anchor="ctr"/>
          <a:lstStyle/>
          <a:p>
            <a:pPr indent="0" marL="0">
              <a:buNone/>
            </a:pPr>
            <a:r>
              <a:rPr lang="en-US" sz="1400" b="1" dirty="0">
                <a:solidFill>
                  <a:srgbClr val="34D399"/>
                </a:solidFill>
                <a:latin typeface="Calibri" pitchFamily="34" charset="0"/>
                <a:ea typeface="Calibri" pitchFamily="34" charset="-122"/>
                <a:cs typeface="Calibri" pitchFamily="34" charset="-120"/>
              </a:rPr>
              <a:t>Deploys on</a:t>
            </a:r>
            <a:endParaRPr lang="en-US" sz="1400" dirty="0"/>
          </a:p>
        </p:txBody>
      </p:sp>
      <p:sp>
        <p:nvSpPr>
          <p:cNvPr id="12" name="Text 10"/>
          <p:cNvSpPr/>
          <p:nvPr/>
        </p:nvSpPr>
        <p:spPr>
          <a:xfrm>
            <a:off x="7726680" y="4526280"/>
            <a:ext cx="3657600" cy="155448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Smartphone cameras · bank counting machines · PoS terminals — 3-second verdicts for tellers, merchants and field officers, no new hardware</a:t>
            </a:r>
            <a:endParaRPr lang="en-US" sz="1250" dirty="0"/>
          </a:p>
        </p:txBody>
      </p:sp>
      <p:sp>
        <p:nvSpPr>
          <p:cNvPr id="13" name="Text 1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4" name="Text 1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Network Intel — from 12 FIRs to one campaign</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F8536B"/>
                </a:solidFill>
                <a:latin typeface="Calibri" pitchFamily="34" charset="0"/>
                <a:ea typeface="Calibri" pitchFamily="34" charset="-122"/>
                <a:cs typeface="Calibri" pitchFamily="34" charset="-120"/>
              </a:rPr>
              <a:t>Graph AI over fused intelligence</a:t>
            </a:r>
            <a:endParaRPr lang="en-US" sz="1600" dirty="0"/>
          </a:p>
        </p:txBody>
      </p:sp>
      <p:sp>
        <p:nvSpPr>
          <p:cNvPr id="5" name="Text 3"/>
          <p:cNvSpPr/>
          <p:nvPr/>
        </p:nvSpPr>
        <p:spPr>
          <a:xfrm>
            <a:off x="822960" y="2103120"/>
            <a:ext cx="6126480" cy="3840480"/>
          </a:xfrm>
          <a:prstGeom prst="rect">
            <a:avLst/>
          </a:prstGeom>
          <a:noFill/>
          <a:ln/>
        </p:spPr>
        <p:txBody>
          <a:bodyPr wrap="square" rtlCol="0" anchor="ctr"/>
          <a:lstStyle/>
          <a:p>
            <a:pPr indent="0" marL="0">
              <a:lnSpc>
                <a:spcPts val="2300"/>
              </a:lnSpc>
              <a:buNone/>
            </a:pPr>
            <a:r>
              <a:rPr lang="en-US" sz="1450" dirty="0">
                <a:solidFill>
                  <a:srgbClr val="DBE6F7"/>
                </a:solidFill>
                <a:latin typeface="Calibri" pitchFamily="34" charset="0"/>
                <a:ea typeface="Calibri" pitchFamily="34" charset="-122"/>
                <a:cs typeface="Calibri" pitchFamily="34" charset="-120"/>
              </a:rPr>
              <a:t>Entity graph fuses victim reports (I4C portal), telco CDR metadata, bank account-opening device fingerprints and account linkages. Community detection + temporal correlation expose what per-FIR investigation never sees:</a:t>
            </a:r>
            <a:endParaRPr lang="en-US" sz="1450" dirty="0"/>
          </a:p>
          <a:p>
            <a:pPr indent="0" marL="0">
              <a:lnSpc>
                <a:spcPts val="2300"/>
              </a:lnSpc>
              <a:buNone/>
            </a:pPr>
            <a:endParaRPr lang="en-US" sz="1450" dirty="0"/>
          </a:p>
          <a:p>
            <a:pPr indent="0" marL="0">
              <a:lnSpc>
                <a:spcPts val="2300"/>
              </a:lnSpc>
              <a:buNone/>
            </a:pPr>
            <a:r>
              <a:rPr lang="en-US" sz="1450" dirty="0">
                <a:solidFill>
                  <a:srgbClr val="DBE6F7"/>
                </a:solidFill>
                <a:latin typeface="Calibri" pitchFamily="34" charset="0"/>
                <a:ea typeface="Calibri" pitchFamily="34" charset="-122"/>
                <a:cs typeface="Calibri" pitchFamily="34" charset="-120"/>
              </a:rPr>
              <a:t>12 “unrelated” victim reports across 7 states  →  one coordinated ring, run from a cross-border compound, routing ₹4.2 Cr through 6 mule accounts into crypto off-ramps and shell firms — confirmed 31 hours after the first report, at 94% confidence.</a:t>
            </a:r>
            <a:endParaRPr lang="en-US" sz="1450" dirty="0"/>
          </a:p>
        </p:txBody>
      </p:sp>
      <p:sp>
        <p:nvSpPr>
          <p:cNvPr id="6" name="Shape 4"/>
          <p:cNvSpPr/>
          <p:nvPr/>
        </p:nvSpPr>
        <p:spPr>
          <a:xfrm>
            <a:off x="7498080" y="1463040"/>
            <a:ext cx="4114800" cy="2468880"/>
          </a:xfrm>
          <a:prstGeom prst="roundRect">
            <a:avLst>
              <a:gd name="adj" fmla="val 2963"/>
            </a:avLst>
          </a:prstGeom>
          <a:solidFill>
            <a:srgbClr val="10141F"/>
          </a:solidFill>
          <a:ln w="9525">
            <a:solidFill>
              <a:srgbClr val="24365C"/>
            </a:solidFill>
            <a:prstDash val="solid"/>
          </a:ln>
        </p:spPr>
      </p:sp>
      <p:sp>
        <p:nvSpPr>
          <p:cNvPr id="7" name="Text 5"/>
          <p:cNvSpPr/>
          <p:nvPr/>
        </p:nvSpPr>
        <p:spPr>
          <a:xfrm>
            <a:off x="7726680" y="1691640"/>
            <a:ext cx="3657600" cy="411480"/>
          </a:xfrm>
          <a:prstGeom prst="rect">
            <a:avLst/>
          </a:prstGeom>
          <a:noFill/>
          <a:ln/>
        </p:spPr>
        <p:txBody>
          <a:bodyPr wrap="square" rtlCol="0" anchor="ctr"/>
          <a:lstStyle/>
          <a:p>
            <a:pPr indent="0" marL="0">
              <a:buNone/>
            </a:pPr>
            <a:r>
              <a:rPr lang="en-US" sz="1600" b="1" dirty="0">
                <a:solidFill>
                  <a:srgbClr val="FBBF24"/>
                </a:solidFill>
                <a:latin typeface="Arial" pitchFamily="34" charset="0"/>
                <a:ea typeface="Arial" pitchFamily="34" charset="-122"/>
                <a:cs typeface="Arial" pitchFamily="34" charset="-120"/>
              </a:rPr>
              <a:t>⚖ Court-ready by design</a:t>
            </a:r>
            <a:endParaRPr lang="en-US" sz="1600" dirty="0"/>
          </a:p>
        </p:txBody>
      </p:sp>
      <p:sp>
        <p:nvSpPr>
          <p:cNvPr id="8" name="Text 6"/>
          <p:cNvSpPr/>
          <p:nvPr/>
        </p:nvSpPr>
        <p:spPr>
          <a:xfrm>
            <a:off x="7726680" y="2148840"/>
            <a:ext cx="3657600" cy="164592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Evidence packages are SHA-256 integrity-sealed and timestamped, with chain-of-custody metadata — built for legal admissibility, not just dashboards.</a:t>
            </a:r>
            <a:endParaRPr lang="en-US" sz="1250" dirty="0"/>
          </a:p>
        </p:txBody>
      </p:sp>
      <p:sp>
        <p:nvSpPr>
          <p:cNvPr id="9" name="Shape 7"/>
          <p:cNvSpPr/>
          <p:nvPr/>
        </p:nvSpPr>
        <p:spPr>
          <a:xfrm>
            <a:off x="7498080" y="4206240"/>
            <a:ext cx="4114800" cy="2011680"/>
          </a:xfrm>
          <a:prstGeom prst="roundRect">
            <a:avLst>
              <a:gd name="adj" fmla="val 3636"/>
            </a:avLst>
          </a:prstGeom>
          <a:solidFill>
            <a:srgbClr val="141F38"/>
          </a:solidFill>
          <a:ln w="9525">
            <a:solidFill>
              <a:srgbClr val="24365C"/>
            </a:solidFill>
            <a:prstDash val="solid"/>
          </a:ln>
        </p:spPr>
      </p:sp>
      <p:sp>
        <p:nvSpPr>
          <p:cNvPr id="10" name="Text 8"/>
          <p:cNvSpPr/>
          <p:nvPr/>
        </p:nvSpPr>
        <p:spPr>
          <a:xfrm>
            <a:off x="7726680" y="4389120"/>
            <a:ext cx="3657600" cy="365760"/>
          </a:xfrm>
          <a:prstGeom prst="rect">
            <a:avLst/>
          </a:prstGeom>
          <a:noFill/>
          <a:ln/>
        </p:spPr>
        <p:txBody>
          <a:bodyPr wrap="square" rtlCol="0" anchor="ctr"/>
          <a:lstStyle/>
          <a:p>
            <a:pPr indent="0" marL="0">
              <a:buNone/>
            </a:pPr>
            <a:r>
              <a:rPr lang="en-US" sz="1400" b="1" dirty="0">
                <a:solidFill>
                  <a:srgbClr val="F8536B"/>
                </a:solidFill>
                <a:latin typeface="Calibri" pitchFamily="34" charset="0"/>
                <a:ea typeface="Calibri" pitchFamily="34" charset="-122"/>
                <a:cs typeface="Calibri" pitchFamily="34" charset="-120"/>
              </a:rPr>
              <a:t>One-click actions</a:t>
            </a:r>
            <a:endParaRPr lang="en-US" sz="1400" dirty="0"/>
          </a:p>
        </p:txBody>
      </p:sp>
      <p:sp>
        <p:nvSpPr>
          <p:cNvPr id="11" name="Text 9"/>
          <p:cNvSpPr/>
          <p:nvPr/>
        </p:nvSpPr>
        <p:spPr>
          <a:xfrm>
            <a:off x="7726680" y="4800600"/>
            <a:ext cx="3657600" cy="1280160"/>
          </a:xfrm>
          <a:prstGeom prst="rect">
            <a:avLst/>
          </a:prstGeom>
          <a:noFill/>
          <a:ln/>
        </p:spPr>
        <p:txBody>
          <a:bodyPr wrap="square" rtlCol="0" anchor="ctr"/>
          <a:lstStyle/>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Freeze requests for all mule accounts</a:t>
            </a:r>
            <a:endParaRPr lang="en-US" sz="1250" dirty="0"/>
          </a:p>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Inter-state alerts to 7 cyber cells</a:t>
            </a:r>
            <a:endParaRPr lang="en-US" sz="1250" dirty="0"/>
          </a:p>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VoIP block takedown request to DoT</a:t>
            </a:r>
            <a:endParaRPr lang="en-US" sz="1250" dirty="0"/>
          </a:p>
        </p:txBody>
      </p:sp>
      <p:sp>
        <p:nvSpPr>
          <p:cNvPr id="12" name="Text 10"/>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3" name="Text 11"/>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Real inference, on real inputs</a:t>
            </a:r>
            <a:endParaRPr lang="en-US" sz="3400" dirty="0"/>
          </a:p>
        </p:txBody>
      </p:sp>
      <p:pic>
        <p:nvPicPr>
          <p:cNvPr id="3" name="Image 0" descr="C:\Users\91800\Desktop\ET Hack 2\Screenshots\Digital_Arrest_Intercepted.png">    </p:cNvPr>
          <p:cNvPicPr>
            <a:picLocks noChangeAspect="1"/>
          </p:cNvPicPr>
          <p:nvPr/>
        </p:nvPicPr>
        <p:blipFill>
          <a:blip r:embed="rId1"/>
          <a:stretch>
            <a:fillRect/>
          </a:stretch>
        </p:blipFill>
        <p:spPr>
          <a:xfrm>
            <a:off x="548640" y="1463040"/>
            <a:ext cx="5532120" cy="3108960"/>
          </a:xfrm>
          <a:prstGeom prst="rect">
            <a:avLst/>
          </a:prstGeom>
        </p:spPr>
      </p:pic>
      <p:sp>
        <p:nvSpPr>
          <p:cNvPr id="4" name="Text 1"/>
          <p:cNvSpPr/>
          <p:nvPr/>
        </p:nvSpPr>
        <p:spPr>
          <a:xfrm>
            <a:off x="548640" y="4617720"/>
            <a:ext cx="5532120" cy="457200"/>
          </a:xfrm>
          <a:prstGeom prst="rect">
            <a:avLst/>
          </a:prstGeom>
          <a:noFill/>
          <a:ln/>
        </p:spPr>
        <p:txBody>
          <a:bodyPr wrap="square" rtlCol="0" anchor="ctr"/>
          <a:lstStyle/>
          <a:p>
            <a:pPr algn="ctr" indent="0" marL="0">
              <a:buNone/>
            </a:pPr>
            <a:r>
              <a:rPr lang="en-US" sz="1250" dirty="0">
                <a:solidFill>
                  <a:srgbClr val="8CA0C4"/>
                </a:solidFill>
                <a:latin typeface="Calibri" pitchFamily="34" charset="0"/>
                <a:ea typeface="Calibri" pitchFamily="34" charset="-122"/>
                <a:cs typeface="Calibri" pitchFamily="34" charset="-120"/>
              </a:rPr>
              <a:t>Interception at T+72s — before any transfer; bilingual victim alert + bank hold</a:t>
            </a:r>
            <a:endParaRPr lang="en-US" sz="1250" dirty="0"/>
          </a:p>
        </p:txBody>
      </p:sp>
      <p:pic>
        <p:nvPicPr>
          <p:cNvPr id="5" name="Image 1" descr="C:\Users\91800\Desktop\ET Hack 2\Screenshots\FICN_Scanner_Photo_Upload_Genuine.png">    </p:cNvPr>
          <p:cNvPicPr>
            <a:picLocks noChangeAspect="1"/>
          </p:cNvPicPr>
          <p:nvPr/>
        </p:nvPicPr>
        <p:blipFill>
          <a:blip r:embed="rId2"/>
          <a:stretch>
            <a:fillRect/>
          </a:stretch>
        </p:blipFill>
        <p:spPr>
          <a:xfrm>
            <a:off x="6309360" y="1463040"/>
            <a:ext cx="5532120" cy="3108960"/>
          </a:xfrm>
          <a:prstGeom prst="rect">
            <a:avLst/>
          </a:prstGeom>
        </p:spPr>
      </p:pic>
      <p:sp>
        <p:nvSpPr>
          <p:cNvPr id="6" name="Text 2"/>
          <p:cNvSpPr/>
          <p:nvPr/>
        </p:nvSpPr>
        <p:spPr>
          <a:xfrm>
            <a:off x="6309360" y="4617720"/>
            <a:ext cx="5532120" cy="457200"/>
          </a:xfrm>
          <a:prstGeom prst="rect">
            <a:avLst/>
          </a:prstGeom>
          <a:noFill/>
          <a:ln/>
        </p:spPr>
        <p:txBody>
          <a:bodyPr wrap="square" rtlCol="0" anchor="ctr"/>
          <a:lstStyle/>
          <a:p>
            <a:pPr algn="ctr" indent="0" marL="0">
              <a:buNone/>
            </a:pPr>
            <a:r>
              <a:rPr lang="en-US" sz="1250" dirty="0">
                <a:solidFill>
                  <a:srgbClr val="8CA0C4"/>
                </a:solidFill>
                <a:latin typeface="Calibri" pitchFamily="34" charset="0"/>
                <a:ea typeface="Calibri" pitchFamily="34" charset="-122"/>
                <a:cs typeface="Calibri" pitchFamily="34" charset="-120"/>
              </a:rPr>
              <a:t>A real note photo: auto-cropped, MobileNet+k-NN verdict — genuine, ₹500 (5/5 on hold-outs)</a:t>
            </a:r>
            <a:endParaRPr lang="en-US" sz="1250" dirty="0"/>
          </a:p>
        </p:txBody>
      </p:sp>
      <p:sp>
        <p:nvSpPr>
          <p:cNvPr id="7" name="Text 3"/>
          <p:cNvSpPr/>
          <p:nvPr/>
        </p:nvSpPr>
        <p:spPr>
          <a:xfrm>
            <a:off x="548640" y="5394960"/>
            <a:ext cx="11247120" cy="457200"/>
          </a:xfrm>
          <a:prstGeom prst="rect">
            <a:avLst/>
          </a:prstGeom>
          <a:noFill/>
          <a:ln/>
        </p:spPr>
        <p:txBody>
          <a:bodyPr wrap="square" rtlCol="0" anchor="ctr"/>
          <a:lstStyle/>
          <a:p>
            <a:pPr algn="ctr" indent="0" marL="0">
              <a:buNone/>
            </a:pPr>
            <a:r>
              <a:rPr lang="en-US" sz="1400" i="1" dirty="0">
                <a:solidFill>
                  <a:srgbClr val="22D3EE"/>
                </a:solidFill>
                <a:latin typeface="Calibri" pitchFamily="34" charset="0"/>
                <a:ea typeface="Calibri" pitchFamily="34" charset="-122"/>
                <a:cs typeface="Calibri" pitchFamily="34" charset="-120"/>
              </a:rPr>
              <a:t>Offline speech model · in-browser vision model · public-domain FTC scam recordings — nothing pre-scored</a:t>
            </a:r>
            <a:endParaRPr lang="en-US" sz="1400" dirty="0"/>
          </a:p>
        </p:txBody>
      </p:sp>
      <p:sp>
        <p:nvSpPr>
          <p:cNvPr id="8" name="Text 4"/>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9" name="Text 5"/>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Built against the judging criteria</a:t>
            </a:r>
            <a:endParaRPr lang="en-US" sz="3800" dirty="0"/>
          </a:p>
        </p:txBody>
      </p:sp>
      <p:sp>
        <p:nvSpPr>
          <p:cNvPr id="3" name="Shape 1"/>
          <p:cNvSpPr/>
          <p:nvPr/>
        </p:nvSpPr>
        <p:spPr>
          <a:xfrm>
            <a:off x="548640" y="1463040"/>
            <a:ext cx="4206240" cy="804672"/>
          </a:xfrm>
          <a:prstGeom prst="roundRect">
            <a:avLst>
              <a:gd name="adj" fmla="val 9091"/>
            </a:avLst>
          </a:prstGeom>
          <a:solidFill>
            <a:srgbClr val="141F38"/>
          </a:solidFill>
          <a:ln w="9525">
            <a:solidFill>
              <a:srgbClr val="24365C"/>
            </a:solidFill>
            <a:prstDash val="solid"/>
          </a:ln>
        </p:spPr>
      </p:sp>
      <p:sp>
        <p:nvSpPr>
          <p:cNvPr id="4" name="Shape 2"/>
          <p:cNvSpPr/>
          <p:nvPr/>
        </p:nvSpPr>
        <p:spPr>
          <a:xfrm>
            <a:off x="4892040" y="1463040"/>
            <a:ext cx="6720840" cy="804672"/>
          </a:xfrm>
          <a:prstGeom prst="roundRect">
            <a:avLst>
              <a:gd name="adj" fmla="val 9091"/>
            </a:avLst>
          </a:prstGeom>
          <a:solidFill>
            <a:srgbClr val="10182B"/>
          </a:solidFill>
          <a:ln w="9525">
            <a:solidFill>
              <a:srgbClr val="24365C"/>
            </a:solidFill>
            <a:prstDash val="solid"/>
          </a:ln>
        </p:spPr>
      </p:sp>
      <p:sp>
        <p:nvSpPr>
          <p:cNvPr id="5" name="Text 3"/>
          <p:cNvSpPr/>
          <p:nvPr/>
        </p:nvSpPr>
        <p:spPr>
          <a:xfrm>
            <a:off x="777240" y="1517904"/>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Scam detection precision &amp; recall</a:t>
            </a:r>
            <a:endParaRPr lang="en-US" sz="1350" dirty="0"/>
          </a:p>
        </p:txBody>
      </p:sp>
      <p:sp>
        <p:nvSpPr>
          <p:cNvPr id="6" name="Text 4"/>
          <p:cNvSpPr/>
          <p:nvPr/>
        </p:nvSpPr>
        <p:spPr>
          <a:xfrm>
            <a:off x="5120640" y="1517904"/>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Weighted 5-category fusion — no single keyword triggers an alarm; benign bank call demoed as negative control</a:t>
            </a:r>
            <a:endParaRPr lang="en-US" sz="1250" dirty="0"/>
          </a:p>
        </p:txBody>
      </p:sp>
      <p:sp>
        <p:nvSpPr>
          <p:cNvPr id="7" name="Shape 5"/>
          <p:cNvSpPr/>
          <p:nvPr/>
        </p:nvSpPr>
        <p:spPr>
          <a:xfrm>
            <a:off x="548640" y="2395728"/>
            <a:ext cx="4206240" cy="804672"/>
          </a:xfrm>
          <a:prstGeom prst="roundRect">
            <a:avLst>
              <a:gd name="adj" fmla="val 9091"/>
            </a:avLst>
          </a:prstGeom>
          <a:solidFill>
            <a:srgbClr val="141F38"/>
          </a:solidFill>
          <a:ln w="9525">
            <a:solidFill>
              <a:srgbClr val="24365C"/>
            </a:solidFill>
            <a:prstDash val="solid"/>
          </a:ln>
        </p:spPr>
      </p:sp>
      <p:sp>
        <p:nvSpPr>
          <p:cNvPr id="8" name="Shape 6"/>
          <p:cNvSpPr/>
          <p:nvPr/>
        </p:nvSpPr>
        <p:spPr>
          <a:xfrm>
            <a:off x="4892040" y="2395728"/>
            <a:ext cx="6720840" cy="804672"/>
          </a:xfrm>
          <a:prstGeom prst="roundRect">
            <a:avLst>
              <a:gd name="adj" fmla="val 9091"/>
            </a:avLst>
          </a:prstGeom>
          <a:solidFill>
            <a:srgbClr val="10182B"/>
          </a:solidFill>
          <a:ln w="9525">
            <a:solidFill>
              <a:srgbClr val="24365C"/>
            </a:solidFill>
            <a:prstDash val="solid"/>
          </a:ln>
        </p:spPr>
      </p:sp>
      <p:sp>
        <p:nvSpPr>
          <p:cNvPr id="9" name="Text 7"/>
          <p:cNvSpPr/>
          <p:nvPr/>
        </p:nvSpPr>
        <p:spPr>
          <a:xfrm>
            <a:off x="777240" y="2450592"/>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Counterfeit detection across print quality</a:t>
            </a:r>
            <a:endParaRPr lang="en-US" sz="1350" dirty="0"/>
          </a:p>
        </p:txBody>
      </p:sp>
      <p:sp>
        <p:nvSpPr>
          <p:cNvPr id="10" name="Text 8"/>
          <p:cNvSpPr/>
          <p:nvPr/>
        </p:nvSpPr>
        <p:spPr>
          <a:xfrm>
            <a:off x="5120640" y="2450592"/>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Per-feature confidence scoring + serial-pattern validation catches even high-quality reprints of seized series</a:t>
            </a:r>
            <a:endParaRPr lang="en-US" sz="1250" dirty="0"/>
          </a:p>
        </p:txBody>
      </p:sp>
      <p:sp>
        <p:nvSpPr>
          <p:cNvPr id="11" name="Shape 9"/>
          <p:cNvSpPr/>
          <p:nvPr/>
        </p:nvSpPr>
        <p:spPr>
          <a:xfrm>
            <a:off x="548640" y="3328416"/>
            <a:ext cx="4206240" cy="804672"/>
          </a:xfrm>
          <a:prstGeom prst="roundRect">
            <a:avLst>
              <a:gd name="adj" fmla="val 9091"/>
            </a:avLst>
          </a:prstGeom>
          <a:solidFill>
            <a:srgbClr val="141F38"/>
          </a:solidFill>
          <a:ln w="9525">
            <a:solidFill>
              <a:srgbClr val="24365C"/>
            </a:solidFill>
            <a:prstDash val="solid"/>
          </a:ln>
        </p:spPr>
      </p:sp>
      <p:sp>
        <p:nvSpPr>
          <p:cNvPr id="12" name="Shape 10"/>
          <p:cNvSpPr/>
          <p:nvPr/>
        </p:nvSpPr>
        <p:spPr>
          <a:xfrm>
            <a:off x="4892040" y="3328416"/>
            <a:ext cx="6720840" cy="804672"/>
          </a:xfrm>
          <a:prstGeom prst="roundRect">
            <a:avLst>
              <a:gd name="adj" fmla="val 9091"/>
            </a:avLst>
          </a:prstGeom>
          <a:solidFill>
            <a:srgbClr val="10182B"/>
          </a:solidFill>
          <a:ln w="9525">
            <a:solidFill>
              <a:srgbClr val="24365C"/>
            </a:solidFill>
            <a:prstDash val="solid"/>
          </a:ln>
        </p:spPr>
      </p:sp>
      <p:sp>
        <p:nvSpPr>
          <p:cNvPr id="13" name="Text 11"/>
          <p:cNvSpPr/>
          <p:nvPr/>
        </p:nvSpPr>
        <p:spPr>
          <a:xfrm>
            <a:off x="777240" y="3383280"/>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Lead time before mass victimisation</a:t>
            </a:r>
            <a:endParaRPr lang="en-US" sz="1350" dirty="0"/>
          </a:p>
        </p:txBody>
      </p:sp>
      <p:sp>
        <p:nvSpPr>
          <p:cNvPr id="14" name="Text 12"/>
          <p:cNvSpPr/>
          <p:nvPr/>
        </p:nvSpPr>
        <p:spPr>
          <a:xfrm>
            <a:off x="5120640" y="3383280"/>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Campaign confirmed at T+31 hours after first report — while mule accounts still hold funds</a:t>
            </a:r>
            <a:endParaRPr lang="en-US" sz="1250" dirty="0"/>
          </a:p>
        </p:txBody>
      </p:sp>
      <p:sp>
        <p:nvSpPr>
          <p:cNvPr id="15" name="Shape 13"/>
          <p:cNvSpPr/>
          <p:nvPr/>
        </p:nvSpPr>
        <p:spPr>
          <a:xfrm>
            <a:off x="548640" y="4261104"/>
            <a:ext cx="4206240" cy="804672"/>
          </a:xfrm>
          <a:prstGeom prst="roundRect">
            <a:avLst>
              <a:gd name="adj" fmla="val 9091"/>
            </a:avLst>
          </a:prstGeom>
          <a:solidFill>
            <a:srgbClr val="141F38"/>
          </a:solidFill>
          <a:ln w="9525">
            <a:solidFill>
              <a:srgbClr val="24365C"/>
            </a:solidFill>
            <a:prstDash val="solid"/>
          </a:ln>
        </p:spPr>
      </p:sp>
      <p:sp>
        <p:nvSpPr>
          <p:cNvPr id="16" name="Shape 14"/>
          <p:cNvSpPr/>
          <p:nvPr/>
        </p:nvSpPr>
        <p:spPr>
          <a:xfrm>
            <a:off x="4892040" y="4261104"/>
            <a:ext cx="6720840" cy="804672"/>
          </a:xfrm>
          <a:prstGeom prst="roundRect">
            <a:avLst>
              <a:gd name="adj" fmla="val 9091"/>
            </a:avLst>
          </a:prstGeom>
          <a:solidFill>
            <a:srgbClr val="10182B"/>
          </a:solidFill>
          <a:ln w="9525">
            <a:solidFill>
              <a:srgbClr val="24365C"/>
            </a:solidFill>
            <a:prstDash val="solid"/>
          </a:ln>
        </p:spPr>
      </p:sp>
      <p:sp>
        <p:nvSpPr>
          <p:cNvPr id="17" name="Text 15"/>
          <p:cNvSpPr/>
          <p:nvPr/>
        </p:nvSpPr>
        <p:spPr>
          <a:xfrm>
            <a:off x="777240" y="4315968"/>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Very low citizen-facing false positives</a:t>
            </a:r>
            <a:endParaRPr lang="en-US" sz="1350" dirty="0"/>
          </a:p>
        </p:txBody>
      </p:sp>
      <p:sp>
        <p:nvSpPr>
          <p:cNvPr id="18" name="Text 16"/>
          <p:cNvSpPr/>
          <p:nvPr/>
        </p:nvSpPr>
        <p:spPr>
          <a:xfrm>
            <a:off x="5120640" y="4315968"/>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Explainable, phrase-level verdicts; saturating category scores; tiered verdicts instead of binary alarms</a:t>
            </a:r>
            <a:endParaRPr lang="en-US" sz="1250" dirty="0"/>
          </a:p>
        </p:txBody>
      </p:sp>
      <p:sp>
        <p:nvSpPr>
          <p:cNvPr id="19" name="Shape 17"/>
          <p:cNvSpPr/>
          <p:nvPr/>
        </p:nvSpPr>
        <p:spPr>
          <a:xfrm>
            <a:off x="548640" y="5193792"/>
            <a:ext cx="4206240" cy="804672"/>
          </a:xfrm>
          <a:prstGeom prst="roundRect">
            <a:avLst>
              <a:gd name="adj" fmla="val 9091"/>
            </a:avLst>
          </a:prstGeom>
          <a:solidFill>
            <a:srgbClr val="141F38"/>
          </a:solidFill>
          <a:ln w="9525">
            <a:solidFill>
              <a:srgbClr val="24365C"/>
            </a:solidFill>
            <a:prstDash val="solid"/>
          </a:ln>
        </p:spPr>
      </p:sp>
      <p:sp>
        <p:nvSpPr>
          <p:cNvPr id="20" name="Shape 18"/>
          <p:cNvSpPr/>
          <p:nvPr/>
        </p:nvSpPr>
        <p:spPr>
          <a:xfrm>
            <a:off x="4892040" y="5193792"/>
            <a:ext cx="6720840" cy="804672"/>
          </a:xfrm>
          <a:prstGeom prst="roundRect">
            <a:avLst>
              <a:gd name="adj" fmla="val 9091"/>
            </a:avLst>
          </a:prstGeom>
          <a:solidFill>
            <a:srgbClr val="10182B"/>
          </a:solidFill>
          <a:ln w="9525">
            <a:solidFill>
              <a:srgbClr val="24365C"/>
            </a:solidFill>
            <a:prstDash val="solid"/>
          </a:ln>
        </p:spPr>
      </p:sp>
      <p:sp>
        <p:nvSpPr>
          <p:cNvPr id="21" name="Text 19"/>
          <p:cNvSpPr/>
          <p:nvPr/>
        </p:nvSpPr>
        <p:spPr>
          <a:xfrm>
            <a:off x="777240" y="5248656"/>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Auditability &amp; legal admissibility</a:t>
            </a:r>
            <a:endParaRPr lang="en-US" sz="1350" dirty="0"/>
          </a:p>
        </p:txBody>
      </p:sp>
      <p:sp>
        <p:nvSpPr>
          <p:cNvPr id="22" name="Text 20"/>
          <p:cNvSpPr/>
          <p:nvPr/>
        </p:nvSpPr>
        <p:spPr>
          <a:xfrm>
            <a:off x="5120640" y="5248656"/>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SHA-256-sealed, timestamped evidence packages with chain-of-custody metadata</a:t>
            </a:r>
            <a:endParaRPr lang="en-US" sz="1250" dirty="0"/>
          </a:p>
        </p:txBody>
      </p:sp>
      <p:sp>
        <p:nvSpPr>
          <p:cNvPr id="23" name="Text 2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24" name="Text 2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914400" y="1371600"/>
            <a:ext cx="10360152" cy="1463040"/>
          </a:xfrm>
          <a:prstGeom prst="rect">
            <a:avLst/>
          </a:prstGeom>
          <a:noFill/>
          <a:ln/>
        </p:spPr>
        <p:txBody>
          <a:bodyPr wrap="square" rtlCol="0" anchor="ctr"/>
          <a:lstStyle/>
          <a:p>
            <a:pPr algn="ctr" indent="0" marL="0">
              <a:lnSpc>
                <a:spcPts val="4200"/>
              </a:lnSpc>
              <a:buNone/>
            </a:pPr>
            <a:r>
              <a:rPr lang="en-US" sz="3400" b="1" dirty="0">
                <a:solidFill>
                  <a:srgbClr val="FFFFFF"/>
                </a:solidFill>
                <a:latin typeface="Arial" pitchFamily="34" charset="0"/>
                <a:ea typeface="Arial" pitchFamily="34" charset="-122"/>
                <a:cs typeface="Arial" pitchFamily="34" charset="-120"/>
              </a:rPr>
              <a:t>The window that matters is before the money moves.</a:t>
            </a:r>
            <a:endParaRPr lang="en-US" sz="3400" dirty="0"/>
          </a:p>
        </p:txBody>
      </p:sp>
      <p:sp>
        <p:nvSpPr>
          <p:cNvPr id="3" name="Text 1"/>
          <p:cNvSpPr/>
          <p:nvPr/>
        </p:nvSpPr>
        <p:spPr>
          <a:xfrm>
            <a:off x="1371600" y="2880360"/>
            <a:ext cx="9445752" cy="914400"/>
          </a:xfrm>
          <a:prstGeom prst="rect">
            <a:avLst/>
          </a:prstGeom>
          <a:noFill/>
          <a:ln/>
        </p:spPr>
        <p:txBody>
          <a:bodyPr wrap="square" rtlCol="0" anchor="ctr"/>
          <a:lstStyle/>
          <a:p>
            <a:pPr algn="ctr" indent="0" marL="0">
              <a:lnSpc>
                <a:spcPts val="2600"/>
              </a:lnSpc>
              <a:buNone/>
            </a:pPr>
            <a:r>
              <a:rPr lang="en-US" sz="1800" dirty="0">
                <a:solidFill>
                  <a:srgbClr val="22D3EE"/>
                </a:solidFill>
                <a:latin typeface="Calibri" pitchFamily="34" charset="0"/>
                <a:ea typeface="Calibri" pitchFamily="34" charset="-122"/>
                <a:cs typeface="Calibri" pitchFamily="34" charset="-120"/>
              </a:rPr>
              <a:t>PRAHARI protects that window — for the citizen on the call,</a:t>
            </a:r>
            <a:endParaRPr lang="en-US" sz="1800" dirty="0"/>
          </a:p>
          <a:p>
            <a:pPr algn="ctr" indent="0" marL="0">
              <a:lnSpc>
                <a:spcPts val="2600"/>
              </a:lnSpc>
              <a:buNone/>
            </a:pPr>
            <a:r>
              <a:rPr lang="en-US" sz="1800" dirty="0">
                <a:solidFill>
                  <a:srgbClr val="22D3EE"/>
                </a:solidFill>
                <a:latin typeface="Calibri" pitchFamily="34" charset="0"/>
                <a:ea typeface="Calibri" pitchFamily="34" charset="-122"/>
                <a:cs typeface="Calibri" pitchFamily="34" charset="-120"/>
              </a:rPr>
              <a:t>the teller at the counter, and the officer chasing the network.</a:t>
            </a:r>
            <a:endParaRPr lang="en-US" sz="1800" dirty="0"/>
          </a:p>
        </p:txBody>
      </p:sp>
      <p:sp>
        <p:nvSpPr>
          <p:cNvPr id="4" name="Shape 2"/>
          <p:cNvSpPr/>
          <p:nvPr/>
        </p:nvSpPr>
        <p:spPr>
          <a:xfrm>
            <a:off x="914400" y="4114800"/>
            <a:ext cx="3246120" cy="1371600"/>
          </a:xfrm>
          <a:prstGeom prst="roundRect">
            <a:avLst>
              <a:gd name="adj" fmla="val 5333"/>
            </a:avLst>
          </a:prstGeom>
          <a:solidFill>
            <a:srgbClr val="141F38"/>
          </a:solidFill>
          <a:ln w="9525">
            <a:solidFill>
              <a:srgbClr val="24365C"/>
            </a:solidFill>
            <a:prstDash val="solid"/>
          </a:ln>
        </p:spPr>
      </p:sp>
      <p:sp>
        <p:nvSpPr>
          <p:cNvPr id="5" name="Text 3"/>
          <p:cNvSpPr/>
          <p:nvPr/>
        </p:nvSpPr>
        <p:spPr>
          <a:xfrm>
            <a:off x="109728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0–3 mo</a:t>
            </a:r>
            <a:endParaRPr lang="en-US" sz="1500" dirty="0"/>
          </a:p>
        </p:txBody>
      </p:sp>
      <p:sp>
        <p:nvSpPr>
          <p:cNvPr id="6" name="Text 4"/>
          <p:cNvSpPr/>
          <p:nvPr/>
        </p:nvSpPr>
        <p:spPr>
          <a:xfrm>
            <a:off x="109728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Telecom-circle pilot · classifier fine-tuned on I4C corpus</a:t>
            </a:r>
            <a:endParaRPr lang="en-US" sz="1150" dirty="0"/>
          </a:p>
        </p:txBody>
      </p:sp>
      <p:sp>
        <p:nvSpPr>
          <p:cNvPr id="7" name="Shape 5"/>
          <p:cNvSpPr/>
          <p:nvPr/>
        </p:nvSpPr>
        <p:spPr>
          <a:xfrm>
            <a:off x="4434840" y="4114800"/>
            <a:ext cx="3246120" cy="1371600"/>
          </a:xfrm>
          <a:prstGeom prst="roundRect">
            <a:avLst>
              <a:gd name="adj" fmla="val 5333"/>
            </a:avLst>
          </a:prstGeom>
          <a:solidFill>
            <a:srgbClr val="141F38"/>
          </a:solidFill>
          <a:ln w="9525">
            <a:solidFill>
              <a:srgbClr val="24365C"/>
            </a:solidFill>
            <a:prstDash val="solid"/>
          </a:ln>
        </p:spPr>
      </p:sp>
      <p:sp>
        <p:nvSpPr>
          <p:cNvPr id="8" name="Text 6"/>
          <p:cNvSpPr/>
          <p:nvPr/>
        </p:nvSpPr>
        <p:spPr>
          <a:xfrm>
            <a:off x="461772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3–9 mo</a:t>
            </a:r>
            <a:endParaRPr lang="en-US" sz="1500" dirty="0"/>
          </a:p>
        </p:txBody>
      </p:sp>
      <p:sp>
        <p:nvSpPr>
          <p:cNvPr id="9" name="Text 7"/>
          <p:cNvSpPr/>
          <p:nvPr/>
        </p:nvSpPr>
        <p:spPr>
          <a:xfrm>
            <a:off x="461772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Bank &amp; counting-machine integration · I4C pipeline ingestion</a:t>
            </a:r>
            <a:endParaRPr lang="en-US" sz="1150" dirty="0"/>
          </a:p>
        </p:txBody>
      </p:sp>
      <p:sp>
        <p:nvSpPr>
          <p:cNvPr id="10" name="Shape 8"/>
          <p:cNvSpPr/>
          <p:nvPr/>
        </p:nvSpPr>
        <p:spPr>
          <a:xfrm>
            <a:off x="7955280" y="4114800"/>
            <a:ext cx="3246120" cy="1371600"/>
          </a:xfrm>
          <a:prstGeom prst="roundRect">
            <a:avLst>
              <a:gd name="adj" fmla="val 5333"/>
            </a:avLst>
          </a:prstGeom>
          <a:solidFill>
            <a:srgbClr val="141F38"/>
          </a:solidFill>
          <a:ln w="9525">
            <a:solidFill>
              <a:srgbClr val="24365C"/>
            </a:solidFill>
            <a:prstDash val="solid"/>
          </a:ln>
        </p:spPr>
      </p:sp>
      <p:sp>
        <p:nvSpPr>
          <p:cNvPr id="11" name="Text 9"/>
          <p:cNvSpPr/>
          <p:nvPr/>
        </p:nvSpPr>
        <p:spPr>
          <a:xfrm>
            <a:off x="813816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9–18 mo</a:t>
            </a:r>
            <a:endParaRPr lang="en-US" sz="1500" dirty="0"/>
          </a:p>
        </p:txBody>
      </p:sp>
      <p:sp>
        <p:nvSpPr>
          <p:cNvPr id="12" name="Text 10"/>
          <p:cNvSpPr/>
          <p:nvPr/>
        </p:nvSpPr>
        <p:spPr>
          <a:xfrm>
            <a:off x="813816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National rollout · deepfake detection · 12-language Citizen Shield</a:t>
            </a:r>
            <a:endParaRPr lang="en-US" sz="1150" dirty="0"/>
          </a:p>
        </p:txBody>
      </p:sp>
      <p:sp>
        <p:nvSpPr>
          <p:cNvPr id="13" name="Text 11"/>
          <p:cNvSpPr/>
          <p:nvPr/>
        </p:nvSpPr>
        <p:spPr>
          <a:xfrm>
            <a:off x="457200" y="5943600"/>
            <a:ext cx="11274552" cy="457200"/>
          </a:xfrm>
          <a:prstGeom prst="rect">
            <a:avLst/>
          </a:prstGeom>
          <a:noFill/>
          <a:ln/>
        </p:spPr>
        <p:txBody>
          <a:bodyPr wrap="square" rtlCol="0" anchor="ctr"/>
          <a:lstStyle/>
          <a:p>
            <a:pPr algn="ctr" indent="0" marL="0">
              <a:buNone/>
            </a:pPr>
            <a:r>
              <a:rPr lang="en-US" sz="1500" i="1" dirty="0">
                <a:solidFill>
                  <a:srgbClr val="8CA0C4"/>
                </a:solidFill>
                <a:latin typeface="Calibri" pitchFamily="34" charset="0"/>
                <a:ea typeface="Calibri" pitchFamily="34" charset="-122"/>
                <a:cs typeface="Calibri" pitchFamily="34" charset="-120"/>
              </a:rPr>
              <a:t>PRAHARI · Predict. Protect. Prosecute.  ·  try it: sanskar9999.github.io/prahari</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2026-07-05T09:00:22Z</dcterms:created>
  <dcterms:modified xsi:type="dcterms:W3CDTF">2026-07-05T09:00:22Z</dcterms:modified>
</cp:coreProperties>
</file>