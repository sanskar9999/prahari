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2011680"/>
            <a:ext cx="11274552" cy="1280160"/>
          </a:xfrm>
          <a:prstGeom prst="rect">
            <a:avLst/>
          </a:prstGeom>
          <a:noFill/>
          <a:ln/>
        </p:spPr>
        <p:txBody>
          <a:bodyPr wrap="square" rtlCol="0" anchor="ctr"/>
          <a:lstStyle/>
          <a:p>
            <a:pPr algn="ctr" indent="0" marL="0">
              <a:buNone/>
            </a:pPr>
            <a:r>
              <a:rPr lang="en-US" sz="7200" b="1" spc="800" kern="0" dirty="0">
                <a:solidFill>
                  <a:srgbClr val="FFFFFF"/>
                </a:solidFill>
                <a:latin typeface="Arial" pitchFamily="34" charset="0"/>
                <a:ea typeface="Arial" pitchFamily="34" charset="-122"/>
                <a:cs typeface="Arial" pitchFamily="34" charset="-120"/>
              </a:rPr>
              <a:t>PRAHARI</a:t>
            </a:r>
            <a:endParaRPr lang="en-US" sz="7200" dirty="0"/>
          </a:p>
        </p:txBody>
      </p:sp>
      <p:sp>
        <p:nvSpPr>
          <p:cNvPr id="3" name="Text 1"/>
          <p:cNvSpPr/>
          <p:nvPr/>
        </p:nvSpPr>
        <p:spPr>
          <a:xfrm>
            <a:off x="457200" y="3291840"/>
            <a:ext cx="11274552" cy="548640"/>
          </a:xfrm>
          <a:prstGeom prst="rect">
            <a:avLst/>
          </a:prstGeom>
          <a:noFill/>
          <a:ln/>
        </p:spPr>
        <p:txBody>
          <a:bodyPr wrap="square" rtlCol="0" anchor="ctr"/>
          <a:lstStyle/>
          <a:p>
            <a:pPr algn="ctr" indent="0" marL="0">
              <a:buNone/>
            </a:pPr>
            <a:r>
              <a:rPr lang="en-US" sz="2400" dirty="0">
                <a:solidFill>
                  <a:srgbClr val="22D3EE"/>
                </a:solidFill>
                <a:latin typeface="Calibri" pitchFamily="34" charset="0"/>
                <a:ea typeface="Calibri" pitchFamily="34" charset="-122"/>
                <a:cs typeface="Calibri" pitchFamily="34" charset="-120"/>
              </a:rPr>
              <a:t>AI-Powered Digital Public Safety Command Centre</a:t>
            </a:r>
            <a:endParaRPr lang="en-US" sz="2400" dirty="0"/>
          </a:p>
        </p:txBody>
      </p:sp>
      <p:sp>
        <p:nvSpPr>
          <p:cNvPr id="4" name="Text 2"/>
          <p:cNvSpPr/>
          <p:nvPr/>
        </p:nvSpPr>
        <p:spPr>
          <a:xfrm>
            <a:off x="457200" y="3886200"/>
            <a:ext cx="11274552" cy="457200"/>
          </a:xfrm>
          <a:prstGeom prst="rect">
            <a:avLst/>
          </a:prstGeom>
          <a:noFill/>
          <a:ln/>
        </p:spPr>
        <p:txBody>
          <a:bodyPr wrap="square" rtlCol="0" anchor="ctr"/>
          <a:lstStyle/>
          <a:p>
            <a:pPr algn="ctr" indent="0" marL="0">
              <a:buNone/>
            </a:pPr>
            <a:r>
              <a:rPr lang="en-US" sz="1600" i="1" dirty="0">
                <a:solidFill>
                  <a:srgbClr val="8CA0C4"/>
                </a:solidFill>
                <a:latin typeface="Calibri" pitchFamily="34" charset="0"/>
                <a:ea typeface="Calibri" pitchFamily="34" charset="-122"/>
                <a:cs typeface="Calibri" pitchFamily="34" charset="-120"/>
              </a:rPr>
              <a:t>Predict. Protect. Prosecute.</a:t>
            </a:r>
            <a:endParaRPr lang="en-US" sz="1600" dirty="0"/>
          </a:p>
        </p:txBody>
      </p:sp>
      <p:sp>
        <p:nvSpPr>
          <p:cNvPr id="5" name="Text 3"/>
          <p:cNvSpPr/>
          <p:nvPr/>
        </p:nvSpPr>
        <p:spPr>
          <a:xfrm>
            <a:off x="1371600" y="5074920"/>
            <a:ext cx="9445752" cy="365760"/>
          </a:xfrm>
          <a:prstGeom prst="rect">
            <a:avLst/>
          </a:prstGeom>
          <a:noFill/>
          <a:ln/>
        </p:spPr>
        <p:txBody>
          <a:bodyPr wrap="square" rtlCol="0" anchor="ctr"/>
          <a:lstStyle/>
          <a:p>
            <a:pPr algn="ctr" indent="0" marL="0">
              <a:buNone/>
            </a:pPr>
            <a:r>
              <a:rPr lang="en-US" sz="1300" b="1" dirty="0">
                <a:solidFill>
                  <a:srgbClr val="DBE6F7"/>
                </a:solidFill>
                <a:latin typeface="Calibri" pitchFamily="34" charset="0"/>
                <a:ea typeface="Calibri" pitchFamily="34" charset="-122"/>
                <a:cs typeface="Calibri" pitchFamily="34" charset="-120"/>
              </a:rPr>
              <a:t>ET AI Hackathon 2.0 — Phase 2 Build Sprint</a:t>
            </a:r>
            <a:endParaRPr lang="en-US" sz="1300" dirty="0"/>
          </a:p>
        </p:txBody>
      </p:sp>
      <p:sp>
        <p:nvSpPr>
          <p:cNvPr id="6" name="Text 4"/>
          <p:cNvSpPr/>
          <p:nvPr/>
        </p:nvSpPr>
        <p:spPr>
          <a:xfrm>
            <a:off x="1371600" y="5440680"/>
            <a:ext cx="9445752" cy="365760"/>
          </a:xfrm>
          <a:prstGeom prst="rect">
            <a:avLst/>
          </a:prstGeom>
          <a:noFill/>
          <a:ln/>
        </p:spPr>
        <p:txBody>
          <a:bodyPr wrap="square" rtlCol="0" anchor="ctr"/>
          <a:lstStyle/>
          <a:p>
            <a:pPr algn="ctr" indent="0" marL="0">
              <a:buNone/>
            </a:pPr>
            <a:r>
              <a:rPr lang="en-US" sz="1300" dirty="0">
                <a:solidFill>
                  <a:srgbClr val="DBE6F7"/>
                </a:solidFill>
                <a:latin typeface="Calibri" pitchFamily="34" charset="0"/>
                <a:ea typeface="Calibri" pitchFamily="34" charset="-122"/>
                <a:cs typeface="Calibri" pitchFamily="34" charset="-120"/>
              </a:rPr>
              <a:t>Problem Statement #6: AI for Digital Public Safety — Defeating Counterfeiting, Fraud &amp; Digital Arrest Scams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A national crisis of digital trust</a:t>
            </a:r>
            <a:endParaRPr lang="en-US" sz="3800" dirty="0"/>
          </a:p>
        </p:txBody>
      </p:sp>
      <p:sp>
        <p:nvSpPr>
          <p:cNvPr id="3" name="Shape 1"/>
          <p:cNvSpPr/>
          <p:nvPr/>
        </p:nvSpPr>
        <p:spPr>
          <a:xfrm>
            <a:off x="548640" y="1463040"/>
            <a:ext cx="3520440" cy="2286000"/>
          </a:xfrm>
          <a:prstGeom prst="roundRect">
            <a:avLst>
              <a:gd name="adj" fmla="val 3200"/>
            </a:avLst>
          </a:prstGeom>
          <a:solidFill>
            <a:srgbClr val="141F38"/>
          </a:solidFill>
          <a:ln w="9525">
            <a:solidFill>
              <a:srgbClr val="24365C"/>
            </a:solidFill>
            <a:prstDash val="solid"/>
          </a:ln>
        </p:spPr>
      </p:sp>
      <p:sp>
        <p:nvSpPr>
          <p:cNvPr id="4" name="Text 2"/>
          <p:cNvSpPr/>
          <p:nvPr/>
        </p:nvSpPr>
        <p:spPr>
          <a:xfrm>
            <a:off x="777240" y="1691640"/>
            <a:ext cx="3063240" cy="914400"/>
          </a:xfrm>
          <a:prstGeom prst="rect">
            <a:avLst/>
          </a:prstGeom>
          <a:noFill/>
          <a:ln/>
        </p:spPr>
        <p:txBody>
          <a:bodyPr wrap="square" rtlCol="0" anchor="ctr"/>
          <a:lstStyle/>
          <a:p>
            <a:pPr indent="0" marL="0">
              <a:buNone/>
            </a:pPr>
            <a:r>
              <a:rPr lang="en-US" sz="4400" b="1" dirty="0">
                <a:solidFill>
                  <a:srgbClr val="F8536B"/>
                </a:solidFill>
                <a:latin typeface="Arial" pitchFamily="34" charset="0"/>
                <a:ea typeface="Arial" pitchFamily="34" charset="-122"/>
                <a:cs typeface="Arial" pitchFamily="34" charset="-120"/>
              </a:rPr>
              <a:t>₹1,935 Cr</a:t>
            </a:r>
            <a:endParaRPr lang="en-US" sz="4400" dirty="0"/>
          </a:p>
        </p:txBody>
      </p:sp>
      <p:sp>
        <p:nvSpPr>
          <p:cNvPr id="5" name="Text 3"/>
          <p:cNvSpPr/>
          <p:nvPr/>
        </p:nvSpPr>
        <p:spPr>
          <a:xfrm>
            <a:off x="777240" y="2606040"/>
            <a:ext cx="3063240" cy="1005840"/>
          </a:xfrm>
          <a:prstGeom prst="rect">
            <a:avLst/>
          </a:prstGeom>
          <a:noFill/>
          <a:ln/>
        </p:spPr>
        <p:txBody>
          <a:bodyPr wrap="square" rtlCol="0" anchor="ctr"/>
          <a:lstStyle/>
          <a:p>
            <a:pPr indent="0" marL="0">
              <a:buNone/>
            </a:pPr>
            <a:r>
              <a:rPr lang="en-US" sz="1350" dirty="0">
                <a:solidFill>
                  <a:srgbClr val="DBE6F7"/>
                </a:solidFill>
                <a:latin typeface="Calibri" pitchFamily="34" charset="0"/>
                <a:ea typeface="Calibri" pitchFamily="34" charset="-122"/>
                <a:cs typeface="Calibri" pitchFamily="34" charset="-120"/>
              </a:rPr>
              <a:t>lost to digital arrest scams in 2024 alone (I4C)</a:t>
            </a:r>
            <a:endParaRPr lang="en-US" sz="1350" dirty="0"/>
          </a:p>
        </p:txBody>
      </p:sp>
      <p:sp>
        <p:nvSpPr>
          <p:cNvPr id="6" name="Shape 4"/>
          <p:cNvSpPr/>
          <p:nvPr/>
        </p:nvSpPr>
        <p:spPr>
          <a:xfrm>
            <a:off x="4343400" y="1463040"/>
            <a:ext cx="3520440" cy="2286000"/>
          </a:xfrm>
          <a:prstGeom prst="roundRect">
            <a:avLst>
              <a:gd name="adj" fmla="val 3200"/>
            </a:avLst>
          </a:prstGeom>
          <a:solidFill>
            <a:srgbClr val="141F38"/>
          </a:solidFill>
          <a:ln w="9525">
            <a:solidFill>
              <a:srgbClr val="24365C"/>
            </a:solidFill>
            <a:prstDash val="solid"/>
          </a:ln>
        </p:spPr>
      </p:sp>
      <p:sp>
        <p:nvSpPr>
          <p:cNvPr id="7" name="Text 5"/>
          <p:cNvSpPr/>
          <p:nvPr/>
        </p:nvSpPr>
        <p:spPr>
          <a:xfrm>
            <a:off x="4572000" y="1691640"/>
            <a:ext cx="3063240" cy="914400"/>
          </a:xfrm>
          <a:prstGeom prst="rect">
            <a:avLst/>
          </a:prstGeom>
          <a:noFill/>
          <a:ln/>
        </p:spPr>
        <p:txBody>
          <a:bodyPr wrap="square" rtlCol="0" anchor="ctr"/>
          <a:lstStyle/>
          <a:p>
            <a:pPr indent="0" marL="0">
              <a:buNone/>
            </a:pPr>
            <a:r>
              <a:rPr lang="en-US" sz="4400" b="1" dirty="0">
                <a:solidFill>
                  <a:srgbClr val="FBBF24"/>
                </a:solidFill>
                <a:latin typeface="Arial" pitchFamily="34" charset="0"/>
                <a:ea typeface="Arial" pitchFamily="34" charset="-122"/>
                <a:cs typeface="Arial" pitchFamily="34" charset="-120"/>
              </a:rPr>
              <a:t>92,334</a:t>
            </a:r>
            <a:endParaRPr lang="en-US" sz="4400" dirty="0"/>
          </a:p>
        </p:txBody>
      </p:sp>
      <p:sp>
        <p:nvSpPr>
          <p:cNvPr id="8" name="Text 6"/>
          <p:cNvSpPr/>
          <p:nvPr/>
        </p:nvSpPr>
        <p:spPr>
          <a:xfrm>
            <a:off x="4572000" y="2606040"/>
            <a:ext cx="3063240" cy="1005840"/>
          </a:xfrm>
          <a:prstGeom prst="rect">
            <a:avLst/>
          </a:prstGeom>
          <a:noFill/>
          <a:ln/>
        </p:spPr>
        <p:txBody>
          <a:bodyPr wrap="square" rtlCol="0" anchor="ctr"/>
          <a:lstStyle/>
          <a:p>
            <a:pPr indent="0" marL="0">
              <a:buNone/>
            </a:pPr>
            <a:r>
              <a:rPr lang="en-US" sz="1350" dirty="0">
                <a:solidFill>
                  <a:srgbClr val="DBE6F7"/>
                </a:solidFill>
                <a:latin typeface="Calibri" pitchFamily="34" charset="0"/>
                <a:ea typeface="Calibri" pitchFamily="34" charset="-122"/>
                <a:cs typeface="Calibri" pitchFamily="34" charset="-120"/>
              </a:rPr>
              <a:t>digital arrest complaints — seniors targeted on hours-long video calls</a:t>
            </a:r>
            <a:endParaRPr lang="en-US" sz="1350" dirty="0"/>
          </a:p>
        </p:txBody>
      </p:sp>
      <p:sp>
        <p:nvSpPr>
          <p:cNvPr id="9" name="Shape 7"/>
          <p:cNvSpPr/>
          <p:nvPr/>
        </p:nvSpPr>
        <p:spPr>
          <a:xfrm>
            <a:off x="8138160" y="1463040"/>
            <a:ext cx="3520440" cy="2286000"/>
          </a:xfrm>
          <a:prstGeom prst="roundRect">
            <a:avLst>
              <a:gd name="adj" fmla="val 3200"/>
            </a:avLst>
          </a:prstGeom>
          <a:solidFill>
            <a:srgbClr val="141F38"/>
          </a:solidFill>
          <a:ln w="9525">
            <a:solidFill>
              <a:srgbClr val="24365C"/>
            </a:solidFill>
            <a:prstDash val="solid"/>
          </a:ln>
        </p:spPr>
      </p:sp>
      <p:sp>
        <p:nvSpPr>
          <p:cNvPr id="10" name="Text 8"/>
          <p:cNvSpPr/>
          <p:nvPr/>
        </p:nvSpPr>
        <p:spPr>
          <a:xfrm>
            <a:off x="8366760" y="1691640"/>
            <a:ext cx="3063240" cy="914400"/>
          </a:xfrm>
          <a:prstGeom prst="rect">
            <a:avLst/>
          </a:prstGeom>
          <a:noFill/>
          <a:ln/>
        </p:spPr>
        <p:txBody>
          <a:bodyPr wrap="square" rtlCol="0" anchor="ctr"/>
          <a:lstStyle/>
          <a:p>
            <a:pPr indent="0" marL="0">
              <a:buNone/>
            </a:pPr>
            <a:r>
              <a:rPr lang="en-US" sz="4400" b="1" dirty="0">
                <a:solidFill>
                  <a:srgbClr val="22D3EE"/>
                </a:solidFill>
                <a:latin typeface="Arial" pitchFamily="34" charset="0"/>
                <a:ea typeface="Arial" pitchFamily="34" charset="-122"/>
                <a:cs typeface="Arial" pitchFamily="34" charset="-120"/>
              </a:rPr>
              <a:t>₹500</a:t>
            </a:r>
            <a:endParaRPr lang="en-US" sz="4400" dirty="0"/>
          </a:p>
        </p:txBody>
      </p:sp>
      <p:sp>
        <p:nvSpPr>
          <p:cNvPr id="11" name="Text 9"/>
          <p:cNvSpPr/>
          <p:nvPr/>
        </p:nvSpPr>
        <p:spPr>
          <a:xfrm>
            <a:off x="8366760" y="2606040"/>
            <a:ext cx="3063240" cy="1005840"/>
          </a:xfrm>
          <a:prstGeom prst="rect">
            <a:avLst/>
          </a:prstGeom>
          <a:noFill/>
          <a:ln/>
        </p:spPr>
        <p:txBody>
          <a:bodyPr wrap="square" rtlCol="0" anchor="ctr"/>
          <a:lstStyle/>
          <a:p>
            <a:pPr indent="0" marL="0">
              <a:buNone/>
            </a:pPr>
            <a:r>
              <a:rPr lang="en-US" sz="1350" dirty="0">
                <a:solidFill>
                  <a:srgbClr val="DBE6F7"/>
                </a:solidFill>
                <a:latin typeface="Calibri" pitchFamily="34" charset="0"/>
                <a:ea typeface="Calibri" pitchFamily="34" charset="-122"/>
                <a:cs typeface="Calibri" pitchFamily="34" charset="-120"/>
              </a:rPr>
              <a:t>high-quality fake notes routinely bypass manual checks at cash counters</a:t>
            </a:r>
            <a:endParaRPr lang="en-US" sz="1350" dirty="0"/>
          </a:p>
        </p:txBody>
      </p:sp>
      <p:sp>
        <p:nvSpPr>
          <p:cNvPr id="12" name="Shape 10"/>
          <p:cNvSpPr/>
          <p:nvPr/>
        </p:nvSpPr>
        <p:spPr>
          <a:xfrm>
            <a:off x="548640" y="4114800"/>
            <a:ext cx="11064240" cy="1965960"/>
          </a:xfrm>
          <a:prstGeom prst="roundRect">
            <a:avLst>
              <a:gd name="adj" fmla="val 3721"/>
            </a:avLst>
          </a:prstGeom>
          <a:solidFill>
            <a:srgbClr val="141F38"/>
          </a:solidFill>
          <a:ln w="9525">
            <a:solidFill>
              <a:srgbClr val="24365C"/>
            </a:solidFill>
            <a:prstDash val="solid"/>
          </a:ln>
        </p:spPr>
      </p:sp>
      <p:sp>
        <p:nvSpPr>
          <p:cNvPr id="13" name="Text 11"/>
          <p:cNvSpPr/>
          <p:nvPr/>
        </p:nvSpPr>
        <p:spPr>
          <a:xfrm>
            <a:off x="822960" y="4297680"/>
            <a:ext cx="10515600" cy="365760"/>
          </a:xfrm>
          <a:prstGeom prst="rect">
            <a:avLst/>
          </a:prstGeom>
          <a:noFill/>
          <a:ln/>
        </p:spPr>
        <p:txBody>
          <a:bodyPr wrap="square" rtlCol="0" anchor="ctr"/>
          <a:lstStyle/>
          <a:p>
            <a:pPr indent="0" marL="0">
              <a:buNone/>
            </a:pPr>
            <a:r>
              <a:rPr lang="en-US" sz="1600" b="1" dirty="0">
                <a:solidFill>
                  <a:srgbClr val="22D3EE"/>
                </a:solidFill>
                <a:latin typeface="Calibri" pitchFamily="34" charset="0"/>
                <a:ea typeface="Calibri" pitchFamily="34" charset="-122"/>
                <a:cs typeface="Calibri" pitchFamily="34" charset="-120"/>
              </a:rPr>
              <a:t>The playbook is industrial</a:t>
            </a:r>
            <a:endParaRPr lang="en-US" sz="1600" dirty="0"/>
          </a:p>
        </p:txBody>
      </p:sp>
      <p:sp>
        <p:nvSpPr>
          <p:cNvPr id="14" name="Text 12"/>
          <p:cNvSpPr/>
          <p:nvPr/>
        </p:nvSpPr>
        <p:spPr>
          <a:xfrm>
            <a:off x="822960" y="4709160"/>
            <a:ext cx="10515600" cy="1234440"/>
          </a:xfrm>
          <a:prstGeom prst="rect">
            <a:avLst/>
          </a:prstGeom>
          <a:noFill/>
          <a:ln/>
        </p:spPr>
        <p:txBody>
          <a:bodyPr wrap="square" rtlCol="0" anchor="ctr"/>
          <a:lstStyle/>
          <a:p>
            <a:pPr indent="0" marL="0">
              <a:lnSpc>
                <a:spcPts val="2200"/>
              </a:lnSpc>
              <a:buNone/>
            </a:pPr>
            <a:r>
              <a:rPr lang="en-US" sz="1450" dirty="0">
                <a:solidFill>
                  <a:srgbClr val="DBE6F7"/>
                </a:solidFill>
                <a:latin typeface="Calibri" pitchFamily="34" charset="0"/>
                <a:ea typeface="Calibri" pitchFamily="34" charset="-122"/>
                <a:cs typeface="Calibri" pitchFamily="34" charset="-120"/>
              </a:rPr>
              <a:t>Cross-border fraud compounds impersonate CBI, police and RBI officers using spoofed numbers, AI voices and deepfake video. Victims are held in “digital custody” for hours and coerced into wiring their savings to “verification accounts”. Meanwhile counterfeit currency enters through known border corridors — and every response today is reactive: the FIR is filed after the money is gone.</a:t>
            </a:r>
            <a:endParaRPr lang="en-US" sz="1450" dirty="0"/>
          </a:p>
        </p:txBody>
      </p:sp>
      <p:sp>
        <p:nvSpPr>
          <p:cNvPr id="15" name="Text 13"/>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16" name="Text 14"/>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the system keeps losing</a:t>
            </a:r>
            <a:endParaRPr lang="en-US" sz="3800" dirty="0"/>
          </a:p>
        </p:txBody>
      </p:sp>
      <p:sp>
        <p:nvSpPr>
          <p:cNvPr id="3" name="Shape 1"/>
          <p:cNvSpPr/>
          <p:nvPr/>
        </p:nvSpPr>
        <p:spPr>
          <a:xfrm>
            <a:off x="548640" y="1554480"/>
            <a:ext cx="3520440" cy="4206240"/>
          </a:xfrm>
          <a:prstGeom prst="roundRect">
            <a:avLst>
              <a:gd name="adj" fmla="val 2078"/>
            </a:avLst>
          </a:prstGeom>
          <a:solidFill>
            <a:srgbClr val="141F38"/>
          </a:solidFill>
          <a:ln w="9525">
            <a:solidFill>
              <a:srgbClr val="24365C"/>
            </a:solidFill>
            <a:prstDash val="solid"/>
          </a:ln>
        </p:spPr>
      </p:sp>
      <p:sp>
        <p:nvSpPr>
          <p:cNvPr id="4" name="Shape 2"/>
          <p:cNvSpPr/>
          <p:nvPr/>
        </p:nvSpPr>
        <p:spPr>
          <a:xfrm>
            <a:off x="822960" y="1828800"/>
            <a:ext cx="502920" cy="502920"/>
          </a:xfrm>
          <a:prstGeom prst="ellipse">
            <a:avLst/>
          </a:prstGeom>
          <a:solidFill>
            <a:srgbClr val="F8536B">
              <a:alpha val="18000"/>
            </a:srgbClr>
          </a:solidFill>
          <a:ln w="12700">
            <a:solidFill>
              <a:srgbClr val="F8536B"/>
            </a:solidFill>
            <a:prstDash val="solid"/>
          </a:ln>
        </p:spPr>
      </p:sp>
      <p:sp>
        <p:nvSpPr>
          <p:cNvPr id="5" name="Text 3"/>
          <p:cNvSpPr/>
          <p:nvPr/>
        </p:nvSpPr>
        <p:spPr>
          <a:xfrm>
            <a:off x="731520" y="1810512"/>
            <a:ext cx="685800" cy="548640"/>
          </a:xfrm>
          <a:prstGeom prst="rect">
            <a:avLst/>
          </a:prstGeom>
          <a:noFill/>
          <a:ln/>
        </p:spPr>
        <p:txBody>
          <a:bodyPr wrap="square" rtlCol="0" anchor="ctr"/>
          <a:lstStyle/>
          <a:p>
            <a:pPr algn="ctr" indent="0" marL="0">
              <a:buNone/>
            </a:pPr>
            <a:r>
              <a:rPr lang="en-US" sz="2000" dirty="0">
                <a:solidFill>
                  <a:srgbClr val="F8536B"/>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822960" y="2514600"/>
            <a:ext cx="3017520" cy="457200"/>
          </a:xfrm>
          <a:prstGeom prst="rect">
            <a:avLst/>
          </a:prstGeom>
          <a:noFill/>
          <a:ln/>
        </p:spPr>
        <p:txBody>
          <a:bodyPr wrap="square" rtlCol="0" anchor="ctr"/>
          <a:lstStyle/>
          <a:p>
            <a:pPr indent="0" marL="0">
              <a:buNone/>
            </a:pPr>
            <a:r>
              <a:rPr lang="en-US" sz="2100" b="1" dirty="0">
                <a:solidFill>
                  <a:srgbClr val="F8536B"/>
                </a:solidFill>
                <a:latin typeface="Arial" pitchFamily="34" charset="0"/>
                <a:ea typeface="Arial" pitchFamily="34" charset="-122"/>
                <a:cs typeface="Arial" pitchFamily="34" charset="-120"/>
              </a:rPr>
              <a:t>Reactive</a:t>
            </a:r>
            <a:endParaRPr lang="en-US" sz="2100" dirty="0"/>
          </a:p>
        </p:txBody>
      </p:sp>
      <p:sp>
        <p:nvSpPr>
          <p:cNvPr id="7" name="Text 5"/>
          <p:cNvSpPr/>
          <p:nvPr/>
        </p:nvSpPr>
        <p:spPr>
          <a:xfrm>
            <a:off x="822960" y="3017520"/>
            <a:ext cx="3017520" cy="2560320"/>
          </a:xfrm>
          <a:prstGeom prst="rect">
            <a:avLst/>
          </a:prstGeom>
          <a:noFill/>
          <a:ln/>
        </p:spPr>
        <p:txBody>
          <a:bodyPr wrap="square" rtlCol="0" anchor="ctr"/>
          <a:lstStyle/>
          <a:p>
            <a:pPr indent="0" marL="0">
              <a:lnSpc>
                <a:spcPts val="2000"/>
              </a:lnSpc>
              <a:buNone/>
            </a:pPr>
            <a:r>
              <a:rPr lang="en-US" sz="1350" dirty="0">
                <a:solidFill>
                  <a:srgbClr val="DBE6F7"/>
                </a:solidFill>
                <a:latin typeface="Calibri" pitchFamily="34" charset="0"/>
                <a:ea typeface="Calibri" pitchFamily="34" charset="-122"/>
                <a:cs typeface="Calibri" pitchFamily="34" charset="-120"/>
              </a:rPr>
              <a:t>Detection happens after the transfer, after the counterfeit changes hands. The one moment that matters — before the money moves — is unprotected.</a:t>
            </a:r>
            <a:endParaRPr lang="en-US" sz="1350" dirty="0"/>
          </a:p>
        </p:txBody>
      </p:sp>
      <p:sp>
        <p:nvSpPr>
          <p:cNvPr id="8" name="Shape 6"/>
          <p:cNvSpPr/>
          <p:nvPr/>
        </p:nvSpPr>
        <p:spPr>
          <a:xfrm>
            <a:off x="4343400" y="1554480"/>
            <a:ext cx="3520440" cy="4206240"/>
          </a:xfrm>
          <a:prstGeom prst="roundRect">
            <a:avLst>
              <a:gd name="adj" fmla="val 2078"/>
            </a:avLst>
          </a:prstGeom>
          <a:solidFill>
            <a:srgbClr val="141F38"/>
          </a:solidFill>
          <a:ln w="9525">
            <a:solidFill>
              <a:srgbClr val="24365C"/>
            </a:solidFill>
            <a:prstDash val="solid"/>
          </a:ln>
        </p:spPr>
      </p:sp>
      <p:sp>
        <p:nvSpPr>
          <p:cNvPr id="9" name="Shape 7"/>
          <p:cNvSpPr/>
          <p:nvPr/>
        </p:nvSpPr>
        <p:spPr>
          <a:xfrm>
            <a:off x="4617720" y="1828800"/>
            <a:ext cx="502920" cy="502920"/>
          </a:xfrm>
          <a:prstGeom prst="ellipse">
            <a:avLst/>
          </a:prstGeom>
          <a:solidFill>
            <a:srgbClr val="FBBF24">
              <a:alpha val="18000"/>
            </a:srgbClr>
          </a:solidFill>
          <a:ln w="12700">
            <a:solidFill>
              <a:srgbClr val="FBBF24"/>
            </a:solidFill>
            <a:prstDash val="solid"/>
          </a:ln>
        </p:spPr>
      </p:sp>
      <p:sp>
        <p:nvSpPr>
          <p:cNvPr id="10" name="Text 8"/>
          <p:cNvSpPr/>
          <p:nvPr/>
        </p:nvSpPr>
        <p:spPr>
          <a:xfrm>
            <a:off x="4526280" y="1810512"/>
            <a:ext cx="685800" cy="548640"/>
          </a:xfrm>
          <a:prstGeom prst="rect">
            <a:avLst/>
          </a:prstGeom>
          <a:noFill/>
          <a:ln/>
        </p:spPr>
        <p:txBody>
          <a:bodyPr wrap="square" rtlCol="0" anchor="ctr"/>
          <a:lstStyle/>
          <a:p>
            <a:pPr algn="ctr" indent="0" marL="0">
              <a:buNone/>
            </a:pPr>
            <a:r>
              <a:rPr lang="en-US" sz="2000" dirty="0">
                <a:solidFill>
                  <a:srgbClr val="FBBF24"/>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4617720" y="2514600"/>
            <a:ext cx="3017520" cy="457200"/>
          </a:xfrm>
          <a:prstGeom prst="rect">
            <a:avLst/>
          </a:prstGeom>
          <a:noFill/>
          <a:ln/>
        </p:spPr>
        <p:txBody>
          <a:bodyPr wrap="square" rtlCol="0" anchor="ctr"/>
          <a:lstStyle/>
          <a:p>
            <a:pPr indent="0" marL="0">
              <a:buNone/>
            </a:pPr>
            <a:r>
              <a:rPr lang="en-US" sz="2100" b="1" dirty="0">
                <a:solidFill>
                  <a:srgbClr val="FBBF24"/>
                </a:solidFill>
                <a:latin typeface="Arial" pitchFamily="34" charset="0"/>
                <a:ea typeface="Arial" pitchFamily="34" charset="-122"/>
                <a:cs typeface="Arial" pitchFamily="34" charset="-120"/>
              </a:rPr>
              <a:t>Siloed</a:t>
            </a:r>
            <a:endParaRPr lang="en-US" sz="2100" dirty="0"/>
          </a:p>
        </p:txBody>
      </p:sp>
      <p:sp>
        <p:nvSpPr>
          <p:cNvPr id="12" name="Text 10"/>
          <p:cNvSpPr/>
          <p:nvPr/>
        </p:nvSpPr>
        <p:spPr>
          <a:xfrm>
            <a:off x="4617720" y="3017520"/>
            <a:ext cx="3017520" cy="2560320"/>
          </a:xfrm>
          <a:prstGeom prst="rect">
            <a:avLst/>
          </a:prstGeom>
          <a:noFill/>
          <a:ln/>
        </p:spPr>
        <p:txBody>
          <a:bodyPr wrap="square" rtlCol="0" anchor="ctr"/>
          <a:lstStyle/>
          <a:p>
            <a:pPr indent="0" marL="0">
              <a:lnSpc>
                <a:spcPts val="2000"/>
              </a:lnSpc>
              <a:buNone/>
            </a:pPr>
            <a:r>
              <a:rPr lang="en-US" sz="1350" dirty="0">
                <a:solidFill>
                  <a:srgbClr val="DBE6F7"/>
                </a:solidFill>
                <a:latin typeface="Calibri" pitchFamily="34" charset="0"/>
                <a:ea typeface="Calibri" pitchFamily="34" charset="-122"/>
                <a:cs typeface="Calibri" pitchFamily="34" charset="-120"/>
              </a:rPr>
              <a:t>Victim reports, telco records, bank device fingerprints and mule accounts sit in separate systems across separate states. Nobody sees the campaign.</a:t>
            </a:r>
            <a:endParaRPr lang="en-US" sz="1350" dirty="0"/>
          </a:p>
        </p:txBody>
      </p:sp>
      <p:sp>
        <p:nvSpPr>
          <p:cNvPr id="13" name="Shape 11"/>
          <p:cNvSpPr/>
          <p:nvPr/>
        </p:nvSpPr>
        <p:spPr>
          <a:xfrm>
            <a:off x="8138160" y="1554480"/>
            <a:ext cx="3520440" cy="4206240"/>
          </a:xfrm>
          <a:prstGeom prst="roundRect">
            <a:avLst>
              <a:gd name="adj" fmla="val 2078"/>
            </a:avLst>
          </a:prstGeom>
          <a:solidFill>
            <a:srgbClr val="141F38"/>
          </a:solidFill>
          <a:ln w="9525">
            <a:solidFill>
              <a:srgbClr val="24365C"/>
            </a:solidFill>
            <a:prstDash val="solid"/>
          </a:ln>
        </p:spPr>
      </p:sp>
      <p:sp>
        <p:nvSpPr>
          <p:cNvPr id="14" name="Shape 12"/>
          <p:cNvSpPr/>
          <p:nvPr/>
        </p:nvSpPr>
        <p:spPr>
          <a:xfrm>
            <a:off x="8412480" y="1828800"/>
            <a:ext cx="502920" cy="502920"/>
          </a:xfrm>
          <a:prstGeom prst="ellipse">
            <a:avLst/>
          </a:prstGeom>
          <a:solidFill>
            <a:srgbClr val="22D3EE">
              <a:alpha val="18000"/>
            </a:srgbClr>
          </a:solidFill>
          <a:ln w="12700">
            <a:solidFill>
              <a:srgbClr val="22D3EE"/>
            </a:solidFill>
            <a:prstDash val="solid"/>
          </a:ln>
        </p:spPr>
      </p:sp>
      <p:sp>
        <p:nvSpPr>
          <p:cNvPr id="15" name="Text 13"/>
          <p:cNvSpPr/>
          <p:nvPr/>
        </p:nvSpPr>
        <p:spPr>
          <a:xfrm>
            <a:off x="8321040" y="1810512"/>
            <a:ext cx="685800" cy="548640"/>
          </a:xfrm>
          <a:prstGeom prst="rect">
            <a:avLst/>
          </a:prstGeom>
          <a:noFill/>
          <a:ln/>
        </p:spPr>
        <p:txBody>
          <a:bodyPr wrap="square" rtlCol="0" anchor="ctr"/>
          <a:lstStyle/>
          <a:p>
            <a:pPr algn="ctr" indent="0" marL="0">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8412480" y="2514600"/>
            <a:ext cx="3017520" cy="457200"/>
          </a:xfrm>
          <a:prstGeom prst="rect">
            <a:avLst/>
          </a:prstGeom>
          <a:noFill/>
          <a:ln/>
        </p:spPr>
        <p:txBody>
          <a:bodyPr wrap="square" rtlCol="0" anchor="ctr"/>
          <a:lstStyle/>
          <a:p>
            <a:pPr indent="0" marL="0">
              <a:buNone/>
            </a:pPr>
            <a:r>
              <a:rPr lang="en-US" sz="2100" b="1" dirty="0">
                <a:solidFill>
                  <a:srgbClr val="22D3EE"/>
                </a:solidFill>
                <a:latin typeface="Arial" pitchFamily="34" charset="0"/>
                <a:ea typeface="Arial" pitchFamily="34" charset="-122"/>
                <a:cs typeface="Arial" pitchFamily="34" charset="-120"/>
              </a:rPr>
              <a:t>Last-mile blind</a:t>
            </a:r>
            <a:endParaRPr lang="en-US" sz="2100" dirty="0"/>
          </a:p>
        </p:txBody>
      </p:sp>
      <p:sp>
        <p:nvSpPr>
          <p:cNvPr id="17" name="Text 15"/>
          <p:cNvSpPr/>
          <p:nvPr/>
        </p:nvSpPr>
        <p:spPr>
          <a:xfrm>
            <a:off x="8412480" y="3017520"/>
            <a:ext cx="3017520" cy="2560320"/>
          </a:xfrm>
          <a:prstGeom prst="rect">
            <a:avLst/>
          </a:prstGeom>
          <a:noFill/>
          <a:ln/>
        </p:spPr>
        <p:txBody>
          <a:bodyPr wrap="square" rtlCol="0" anchor="ctr"/>
          <a:lstStyle/>
          <a:p>
            <a:pPr indent="0" marL="0">
              <a:lnSpc>
                <a:spcPts val="2000"/>
              </a:lnSpc>
              <a:buNone/>
            </a:pPr>
            <a:r>
              <a:rPr lang="en-US" sz="1350" dirty="0">
                <a:solidFill>
                  <a:srgbClr val="DBE6F7"/>
                </a:solidFill>
                <a:latin typeface="Calibri" pitchFamily="34" charset="0"/>
                <a:ea typeface="Calibri" pitchFamily="34" charset="-122"/>
                <a:cs typeface="Calibri" pitchFamily="34" charset="-120"/>
              </a:rPr>
              <a:t>Currency authentication lives in expensive fixed machines. Kirana stores, petrol pumps and rural correspondents rely on touch and instinct.</a:t>
            </a:r>
            <a:endParaRPr lang="en-US" sz="1350" dirty="0"/>
          </a:p>
        </p:txBody>
      </p:sp>
      <p:sp>
        <p:nvSpPr>
          <p:cNvPr id="18" name="Text 16"/>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19" name="Text 17"/>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PRAHARI: one command centre, three AI engines</a:t>
            </a:r>
            <a:endParaRPr lang="en-US" sz="3600" dirty="0"/>
          </a:p>
        </p:txBody>
      </p:sp>
      <p:sp>
        <p:nvSpPr>
          <p:cNvPr id="3" name="Text 1"/>
          <p:cNvSpPr/>
          <p:nvPr/>
        </p:nvSpPr>
        <p:spPr>
          <a:xfrm>
            <a:off x="457200" y="1097280"/>
            <a:ext cx="11247120" cy="411480"/>
          </a:xfrm>
          <a:prstGeom prst="rect">
            <a:avLst/>
          </a:prstGeom>
          <a:noFill/>
          <a:ln/>
        </p:spPr>
        <p:txBody>
          <a:bodyPr wrap="square" rtlCol="0" anchor="ctr"/>
          <a:lstStyle/>
          <a:p>
            <a:pPr indent="0" marL="0">
              <a:buNone/>
            </a:pPr>
            <a:r>
              <a:rPr lang="en-US" sz="1600" i="1" dirty="0">
                <a:solidFill>
                  <a:srgbClr val="8CA0C4"/>
                </a:solidFill>
                <a:latin typeface="Calibri" pitchFamily="34" charset="0"/>
                <a:ea typeface="Calibri" pitchFamily="34" charset="-122"/>
                <a:cs typeface="Calibri" pitchFamily="34" charset="-120"/>
              </a:rPr>
              <a:t>From reactive case investigation to predictive threat neutralisation</a:t>
            </a:r>
            <a:endParaRPr lang="en-US" sz="1600" dirty="0"/>
          </a:p>
        </p:txBody>
      </p:sp>
      <p:sp>
        <p:nvSpPr>
          <p:cNvPr id="4" name="Shape 2"/>
          <p:cNvSpPr/>
          <p:nvPr/>
        </p:nvSpPr>
        <p:spPr>
          <a:xfrm>
            <a:off x="548640" y="1737360"/>
            <a:ext cx="3520440" cy="4023360"/>
          </a:xfrm>
          <a:prstGeom prst="roundRect">
            <a:avLst>
              <a:gd name="adj" fmla="val 2078"/>
            </a:avLst>
          </a:prstGeom>
          <a:solidFill>
            <a:srgbClr val="141F38"/>
          </a:solidFill>
          <a:ln w="9525">
            <a:solidFill>
              <a:srgbClr val="24365C"/>
            </a:solidFill>
            <a:prstDash val="solid"/>
          </a:ln>
        </p:spPr>
      </p:sp>
      <p:sp>
        <p:nvSpPr>
          <p:cNvPr id="5" name="Shape 3"/>
          <p:cNvSpPr/>
          <p:nvPr/>
        </p:nvSpPr>
        <p:spPr>
          <a:xfrm>
            <a:off x="822960" y="2011680"/>
            <a:ext cx="502920" cy="502920"/>
          </a:xfrm>
          <a:prstGeom prst="ellipse">
            <a:avLst/>
          </a:prstGeom>
          <a:solidFill>
            <a:srgbClr val="22D3EE">
              <a:alpha val="18000"/>
            </a:srgbClr>
          </a:solidFill>
          <a:ln w="12700">
            <a:solidFill>
              <a:srgbClr val="22D3EE"/>
            </a:solidFill>
            <a:prstDash val="solid"/>
          </a:ln>
        </p:spPr>
      </p:sp>
      <p:sp>
        <p:nvSpPr>
          <p:cNvPr id="6" name="Text 4"/>
          <p:cNvSpPr/>
          <p:nvPr/>
        </p:nvSpPr>
        <p:spPr>
          <a:xfrm>
            <a:off x="731520" y="1993392"/>
            <a:ext cx="685800" cy="548640"/>
          </a:xfrm>
          <a:prstGeom prst="rect">
            <a:avLst/>
          </a:prstGeom>
          <a:noFill/>
          <a:ln/>
        </p:spPr>
        <p:txBody>
          <a:bodyPr wrap="square" rtlCol="0" anchor="ctr"/>
          <a:lstStyle/>
          <a:p>
            <a:pPr algn="ctr" indent="0" marL="0">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822960" y="2697480"/>
            <a:ext cx="3017520" cy="411480"/>
          </a:xfrm>
          <a:prstGeom prst="rect">
            <a:avLst/>
          </a:prstGeom>
          <a:noFill/>
          <a:ln/>
        </p:spPr>
        <p:txBody>
          <a:bodyPr wrap="square" rtlCol="0" anchor="ctr"/>
          <a:lstStyle/>
          <a:p>
            <a:pPr indent="0" marL="0">
              <a:buNone/>
            </a:pPr>
            <a:r>
              <a:rPr lang="en-US" sz="1900" b="1" spc="100" kern="0" dirty="0">
                <a:solidFill>
                  <a:srgbClr val="22D3EE"/>
                </a:solidFill>
                <a:latin typeface="Arial" pitchFamily="34" charset="0"/>
                <a:ea typeface="Arial" pitchFamily="34" charset="-122"/>
                <a:cs typeface="Arial" pitchFamily="34" charset="-120"/>
              </a:rPr>
              <a:t>SCAM SHIELD</a:t>
            </a:r>
            <a:endParaRPr lang="en-US" sz="1900" dirty="0"/>
          </a:p>
        </p:txBody>
      </p:sp>
      <p:sp>
        <p:nvSpPr>
          <p:cNvPr id="8" name="Text 6"/>
          <p:cNvSpPr/>
          <p:nvPr/>
        </p:nvSpPr>
        <p:spPr>
          <a:xfrm>
            <a:off x="822960" y="3127248"/>
            <a:ext cx="3017520" cy="365760"/>
          </a:xfrm>
          <a:prstGeom prst="rect">
            <a:avLst/>
          </a:prstGeom>
          <a:noFill/>
          <a:ln/>
        </p:spPr>
        <p:txBody>
          <a:bodyPr wrap="square" rtlCol="0" anchor="ctr"/>
          <a:lstStyle/>
          <a:p>
            <a:pPr indent="0" marL="0">
              <a:buNone/>
            </a:pPr>
            <a:r>
              <a:rPr lang="en-US" sz="1250" i="1" dirty="0">
                <a:solidFill>
                  <a:srgbClr val="8CA0C4"/>
                </a:solidFill>
                <a:latin typeface="Calibri" pitchFamily="34" charset="0"/>
                <a:ea typeface="Calibri" pitchFamily="34" charset="-122"/>
                <a:cs typeface="Calibri" pitchFamily="34" charset="-120"/>
              </a:rPr>
              <a:t>Protects the citizen</a:t>
            </a:r>
            <a:endParaRPr lang="en-US" sz="1250" dirty="0"/>
          </a:p>
        </p:txBody>
      </p:sp>
      <p:sp>
        <p:nvSpPr>
          <p:cNvPr id="9" name="Text 7"/>
          <p:cNvSpPr/>
          <p:nvPr/>
        </p:nvSpPr>
        <p:spPr>
          <a:xfrm>
            <a:off x="822960" y="3566160"/>
            <a:ext cx="3017520" cy="2011680"/>
          </a:xfrm>
          <a:prstGeom prst="rect">
            <a:avLst/>
          </a:prstGeom>
          <a:noFill/>
          <a:ln/>
        </p:spPr>
        <p:txBody>
          <a:bodyPr wrap="square" rtlCol="0" anchor="ctr"/>
          <a:lstStyle/>
          <a:p>
            <a:pPr indent="0" marL="0">
              <a:lnSpc>
                <a:spcPts val="1900"/>
              </a:lnSpc>
              <a:buNone/>
            </a:pPr>
            <a:r>
              <a:rPr lang="en-US" sz="1300" dirty="0">
                <a:solidFill>
                  <a:srgbClr val="DBE6F7"/>
                </a:solidFill>
                <a:latin typeface="Calibri" pitchFamily="34" charset="0"/>
                <a:ea typeface="Calibri" pitchFamily="34" charset="-122"/>
                <a:cs typeface="Calibri" pitchFamily="34" charset="-120"/>
              </a:rPr>
              <a:t>NLP classifier flags an active digital-arrest call in &lt;2 seconds — before the transfer — and auto-alerts victim, telecom and MHA/I4C.</a:t>
            </a:r>
            <a:endParaRPr lang="en-US" sz="1300" dirty="0"/>
          </a:p>
        </p:txBody>
      </p:sp>
      <p:sp>
        <p:nvSpPr>
          <p:cNvPr id="10" name="Shape 8"/>
          <p:cNvSpPr/>
          <p:nvPr/>
        </p:nvSpPr>
        <p:spPr>
          <a:xfrm>
            <a:off x="4343400" y="1737360"/>
            <a:ext cx="3520440" cy="4023360"/>
          </a:xfrm>
          <a:prstGeom prst="roundRect">
            <a:avLst>
              <a:gd name="adj" fmla="val 2078"/>
            </a:avLst>
          </a:prstGeom>
          <a:solidFill>
            <a:srgbClr val="141F38"/>
          </a:solidFill>
          <a:ln w="9525">
            <a:solidFill>
              <a:srgbClr val="24365C"/>
            </a:solidFill>
            <a:prstDash val="solid"/>
          </a:ln>
        </p:spPr>
      </p:sp>
      <p:sp>
        <p:nvSpPr>
          <p:cNvPr id="11" name="Shape 9"/>
          <p:cNvSpPr/>
          <p:nvPr/>
        </p:nvSpPr>
        <p:spPr>
          <a:xfrm>
            <a:off x="4617720" y="2011680"/>
            <a:ext cx="502920" cy="502920"/>
          </a:xfrm>
          <a:prstGeom prst="ellipse">
            <a:avLst/>
          </a:prstGeom>
          <a:solidFill>
            <a:srgbClr val="34D399">
              <a:alpha val="18000"/>
            </a:srgbClr>
          </a:solidFill>
          <a:ln w="12700">
            <a:solidFill>
              <a:srgbClr val="34D399"/>
            </a:solidFill>
            <a:prstDash val="solid"/>
          </a:ln>
        </p:spPr>
      </p:sp>
      <p:sp>
        <p:nvSpPr>
          <p:cNvPr id="12" name="Text 10"/>
          <p:cNvSpPr/>
          <p:nvPr/>
        </p:nvSpPr>
        <p:spPr>
          <a:xfrm>
            <a:off x="4526280" y="1993392"/>
            <a:ext cx="685800" cy="548640"/>
          </a:xfrm>
          <a:prstGeom prst="rect">
            <a:avLst/>
          </a:prstGeom>
          <a:noFill/>
          <a:ln/>
        </p:spPr>
        <p:txBody>
          <a:bodyPr wrap="square" rtlCol="0" anchor="ctr"/>
          <a:lstStyle/>
          <a:p>
            <a:pPr algn="ctr" indent="0" marL="0">
              <a:buNone/>
            </a:pPr>
            <a:r>
              <a:rPr lang="en-US" sz="2000" dirty="0">
                <a:solidFill>
                  <a:srgbClr val="34D399"/>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617720" y="2697480"/>
            <a:ext cx="3017520" cy="411480"/>
          </a:xfrm>
          <a:prstGeom prst="rect">
            <a:avLst/>
          </a:prstGeom>
          <a:noFill/>
          <a:ln/>
        </p:spPr>
        <p:txBody>
          <a:bodyPr wrap="square" rtlCol="0" anchor="ctr"/>
          <a:lstStyle/>
          <a:p>
            <a:pPr indent="0" marL="0">
              <a:buNone/>
            </a:pPr>
            <a:r>
              <a:rPr lang="en-US" sz="1900" b="1" spc="100" kern="0" dirty="0">
                <a:solidFill>
                  <a:srgbClr val="34D399"/>
                </a:solidFill>
                <a:latin typeface="Arial" pitchFamily="34" charset="0"/>
                <a:ea typeface="Arial" pitchFamily="34" charset="-122"/>
                <a:cs typeface="Arial" pitchFamily="34" charset="-120"/>
              </a:rPr>
              <a:t>FICN SCANNER</a:t>
            </a:r>
            <a:endParaRPr lang="en-US" sz="1900" dirty="0"/>
          </a:p>
        </p:txBody>
      </p:sp>
      <p:sp>
        <p:nvSpPr>
          <p:cNvPr id="14" name="Text 12"/>
          <p:cNvSpPr/>
          <p:nvPr/>
        </p:nvSpPr>
        <p:spPr>
          <a:xfrm>
            <a:off x="4617720" y="3127248"/>
            <a:ext cx="3017520" cy="365760"/>
          </a:xfrm>
          <a:prstGeom prst="rect">
            <a:avLst/>
          </a:prstGeom>
          <a:noFill/>
          <a:ln/>
        </p:spPr>
        <p:txBody>
          <a:bodyPr wrap="square" rtlCol="0" anchor="ctr"/>
          <a:lstStyle/>
          <a:p>
            <a:pPr indent="0" marL="0">
              <a:buNone/>
            </a:pPr>
            <a:r>
              <a:rPr lang="en-US" sz="1250" i="1" dirty="0">
                <a:solidFill>
                  <a:srgbClr val="8CA0C4"/>
                </a:solidFill>
                <a:latin typeface="Calibri" pitchFamily="34" charset="0"/>
                <a:ea typeface="Calibri" pitchFamily="34" charset="-122"/>
                <a:cs typeface="Calibri" pitchFamily="34" charset="-120"/>
              </a:rPr>
              <a:t>Protects the cash economy</a:t>
            </a:r>
            <a:endParaRPr lang="en-US" sz="1250" dirty="0"/>
          </a:p>
        </p:txBody>
      </p:sp>
      <p:sp>
        <p:nvSpPr>
          <p:cNvPr id="15" name="Text 13"/>
          <p:cNvSpPr/>
          <p:nvPr/>
        </p:nvSpPr>
        <p:spPr>
          <a:xfrm>
            <a:off x="4617720" y="3566160"/>
            <a:ext cx="3017520" cy="2011680"/>
          </a:xfrm>
          <a:prstGeom prst="rect">
            <a:avLst/>
          </a:prstGeom>
          <a:noFill/>
          <a:ln/>
        </p:spPr>
        <p:txBody>
          <a:bodyPr wrap="square" rtlCol="0" anchor="ctr"/>
          <a:lstStyle/>
          <a:p>
            <a:pPr indent="0" marL="0">
              <a:lnSpc>
                <a:spcPts val="1900"/>
              </a:lnSpc>
              <a:buNone/>
            </a:pPr>
            <a:r>
              <a:rPr lang="en-US" sz="1300" dirty="0">
                <a:solidFill>
                  <a:srgbClr val="DBE6F7"/>
                </a:solidFill>
                <a:latin typeface="Calibri" pitchFamily="34" charset="0"/>
                <a:ea typeface="Calibri" pitchFamily="34" charset="-122"/>
                <a:cs typeface="Calibri" pitchFamily="34" charset="-120"/>
              </a:rPr>
              <a:t>Computer vision turns any smartphone or counting machine into a currency authenticator: 7 RBI security features + serial registry cross-match.</a:t>
            </a:r>
            <a:endParaRPr lang="en-US" sz="1300" dirty="0"/>
          </a:p>
        </p:txBody>
      </p:sp>
      <p:sp>
        <p:nvSpPr>
          <p:cNvPr id="16" name="Shape 14"/>
          <p:cNvSpPr/>
          <p:nvPr/>
        </p:nvSpPr>
        <p:spPr>
          <a:xfrm>
            <a:off x="8138160" y="1737360"/>
            <a:ext cx="3520440" cy="4023360"/>
          </a:xfrm>
          <a:prstGeom prst="roundRect">
            <a:avLst>
              <a:gd name="adj" fmla="val 2078"/>
            </a:avLst>
          </a:prstGeom>
          <a:solidFill>
            <a:srgbClr val="141F38"/>
          </a:solidFill>
          <a:ln w="9525">
            <a:solidFill>
              <a:srgbClr val="24365C"/>
            </a:solidFill>
            <a:prstDash val="solid"/>
          </a:ln>
        </p:spPr>
      </p:sp>
      <p:sp>
        <p:nvSpPr>
          <p:cNvPr id="17" name="Shape 15"/>
          <p:cNvSpPr/>
          <p:nvPr/>
        </p:nvSpPr>
        <p:spPr>
          <a:xfrm>
            <a:off x="8412480" y="2011680"/>
            <a:ext cx="502920" cy="502920"/>
          </a:xfrm>
          <a:prstGeom prst="ellipse">
            <a:avLst/>
          </a:prstGeom>
          <a:solidFill>
            <a:srgbClr val="F8536B">
              <a:alpha val="18000"/>
            </a:srgbClr>
          </a:solidFill>
          <a:ln w="12700">
            <a:solidFill>
              <a:srgbClr val="F8536B"/>
            </a:solidFill>
            <a:prstDash val="solid"/>
          </a:ln>
        </p:spPr>
      </p:sp>
      <p:sp>
        <p:nvSpPr>
          <p:cNvPr id="18" name="Text 16"/>
          <p:cNvSpPr/>
          <p:nvPr/>
        </p:nvSpPr>
        <p:spPr>
          <a:xfrm>
            <a:off x="8321040" y="1993392"/>
            <a:ext cx="685800" cy="548640"/>
          </a:xfrm>
          <a:prstGeom prst="rect">
            <a:avLst/>
          </a:prstGeom>
          <a:noFill/>
          <a:ln/>
        </p:spPr>
        <p:txBody>
          <a:bodyPr wrap="square" rtlCol="0" anchor="ctr"/>
          <a:lstStyle/>
          <a:p>
            <a:pPr algn="ctr" indent="0" marL="0">
              <a:buNone/>
            </a:pPr>
            <a:r>
              <a:rPr lang="en-US" sz="2000" dirty="0">
                <a:solidFill>
                  <a:srgbClr val="F8536B"/>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8412480" y="2697480"/>
            <a:ext cx="3017520" cy="411480"/>
          </a:xfrm>
          <a:prstGeom prst="rect">
            <a:avLst/>
          </a:prstGeom>
          <a:noFill/>
          <a:ln/>
        </p:spPr>
        <p:txBody>
          <a:bodyPr wrap="square" rtlCol="0" anchor="ctr"/>
          <a:lstStyle/>
          <a:p>
            <a:pPr indent="0" marL="0">
              <a:buNone/>
            </a:pPr>
            <a:r>
              <a:rPr lang="en-US" sz="1900" b="1" spc="100" kern="0" dirty="0">
                <a:solidFill>
                  <a:srgbClr val="F8536B"/>
                </a:solidFill>
                <a:latin typeface="Arial" pitchFamily="34" charset="0"/>
                <a:ea typeface="Arial" pitchFamily="34" charset="-122"/>
                <a:cs typeface="Arial" pitchFamily="34" charset="-120"/>
              </a:rPr>
              <a:t>NETWORK INTEL</a:t>
            </a:r>
            <a:endParaRPr lang="en-US" sz="1900" dirty="0"/>
          </a:p>
        </p:txBody>
      </p:sp>
      <p:sp>
        <p:nvSpPr>
          <p:cNvPr id="20" name="Text 18"/>
          <p:cNvSpPr/>
          <p:nvPr/>
        </p:nvSpPr>
        <p:spPr>
          <a:xfrm>
            <a:off x="8412480" y="3127248"/>
            <a:ext cx="3017520" cy="365760"/>
          </a:xfrm>
          <a:prstGeom prst="rect">
            <a:avLst/>
          </a:prstGeom>
          <a:noFill/>
          <a:ln/>
        </p:spPr>
        <p:txBody>
          <a:bodyPr wrap="square" rtlCol="0" anchor="ctr"/>
          <a:lstStyle/>
          <a:p>
            <a:pPr indent="0" marL="0">
              <a:buNone/>
            </a:pPr>
            <a:r>
              <a:rPr lang="en-US" sz="1250" i="1" dirty="0">
                <a:solidFill>
                  <a:srgbClr val="8CA0C4"/>
                </a:solidFill>
                <a:latin typeface="Calibri" pitchFamily="34" charset="0"/>
                <a:ea typeface="Calibri" pitchFamily="34" charset="-122"/>
                <a:cs typeface="Calibri" pitchFamily="34" charset="-120"/>
              </a:rPr>
              <a:t>Dismantles the network</a:t>
            </a:r>
            <a:endParaRPr lang="en-US" sz="1250" dirty="0"/>
          </a:p>
        </p:txBody>
      </p:sp>
      <p:sp>
        <p:nvSpPr>
          <p:cNvPr id="21" name="Text 19"/>
          <p:cNvSpPr/>
          <p:nvPr/>
        </p:nvSpPr>
        <p:spPr>
          <a:xfrm>
            <a:off x="8412480" y="3566160"/>
            <a:ext cx="3017520" cy="2011680"/>
          </a:xfrm>
          <a:prstGeom prst="rect">
            <a:avLst/>
          </a:prstGeom>
          <a:noFill/>
          <a:ln/>
        </p:spPr>
        <p:txBody>
          <a:bodyPr wrap="square" rtlCol="0" anchor="ctr"/>
          <a:lstStyle/>
          <a:p>
            <a:pPr indent="0" marL="0">
              <a:lnSpc>
                <a:spcPts val="1900"/>
              </a:lnSpc>
              <a:buNone/>
            </a:pPr>
            <a:r>
              <a:rPr lang="en-US" sz="1300" dirty="0">
                <a:solidFill>
                  <a:srgbClr val="DBE6F7"/>
                </a:solidFill>
                <a:latin typeface="Calibri" pitchFamily="34" charset="0"/>
                <a:ea typeface="Calibri" pitchFamily="34" charset="-122"/>
                <a:cs typeface="Calibri" pitchFamily="34" charset="-120"/>
              </a:rPr>
              <a:t>Graph AI fuses reports, VoIP signatures, device fingerprints and mule accounts — exposing the campaign and exporting court-ready evidence.</a:t>
            </a:r>
            <a:endParaRPr lang="en-US" sz="1300" dirty="0"/>
          </a:p>
        </p:txBody>
      </p:sp>
      <p:sp>
        <p:nvSpPr>
          <p:cNvPr id="22" name="Text 20"/>
          <p:cNvSpPr/>
          <p:nvPr/>
        </p:nvSpPr>
        <p:spPr>
          <a:xfrm>
            <a:off x="548640" y="5943600"/>
            <a:ext cx="11064240" cy="411480"/>
          </a:xfrm>
          <a:prstGeom prst="rect">
            <a:avLst/>
          </a:prstGeom>
          <a:noFill/>
          <a:ln/>
        </p:spPr>
        <p:txBody>
          <a:bodyPr wrap="square" rtlCol="0" anchor="ctr"/>
          <a:lstStyle/>
          <a:p>
            <a:pPr algn="ctr" indent="0" marL="0">
              <a:buNone/>
            </a:pPr>
            <a:r>
              <a:rPr lang="en-US" sz="1400" dirty="0">
                <a:solidFill>
                  <a:srgbClr val="22D3EE"/>
                </a:solidFill>
                <a:latin typeface="Calibri" pitchFamily="34" charset="0"/>
                <a:ea typeface="Calibri" pitchFamily="34" charset="-122"/>
                <a:cs typeface="Calibri" pitchFamily="34" charset="-120"/>
              </a:rPr>
              <a:t>+ National Command Centre: live geospatial threat map (scam-origin zones, FICN corridors) with a fused real-time intelligence feed</a:t>
            </a:r>
            <a:endParaRPr lang="en-US" sz="1400" dirty="0"/>
          </a:p>
        </p:txBody>
      </p:sp>
      <p:sp>
        <p:nvSpPr>
          <p:cNvPr id="23" name="Text 21"/>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24" name="Text 22"/>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Scam Shield — stopping the scam mid-call</a:t>
            </a:r>
            <a:endParaRPr lang="en-US" sz="3600" dirty="0"/>
          </a:p>
        </p:txBody>
      </p:sp>
      <p:sp>
        <p:nvSpPr>
          <p:cNvPr id="3" name="Shape 1"/>
          <p:cNvSpPr/>
          <p:nvPr/>
        </p:nvSpPr>
        <p:spPr>
          <a:xfrm>
            <a:off x="548640" y="1463040"/>
            <a:ext cx="6675120" cy="4754880"/>
          </a:xfrm>
          <a:prstGeom prst="roundRect">
            <a:avLst>
              <a:gd name="adj" fmla="val 1538"/>
            </a:avLst>
          </a:prstGeom>
          <a:solidFill>
            <a:srgbClr val="141F38"/>
          </a:solidFill>
          <a:ln w="9525">
            <a:solidFill>
              <a:srgbClr val="24365C"/>
            </a:solidFill>
            <a:prstDash val="solid"/>
          </a:ln>
        </p:spPr>
      </p:sp>
      <p:sp>
        <p:nvSpPr>
          <p:cNvPr id="4" name="Text 2"/>
          <p:cNvSpPr/>
          <p:nvPr/>
        </p:nvSpPr>
        <p:spPr>
          <a:xfrm>
            <a:off x="822960" y="1645920"/>
            <a:ext cx="6126480" cy="365760"/>
          </a:xfrm>
          <a:prstGeom prst="rect">
            <a:avLst/>
          </a:prstGeom>
          <a:noFill/>
          <a:ln/>
        </p:spPr>
        <p:txBody>
          <a:bodyPr wrap="square" rtlCol="0" anchor="ctr"/>
          <a:lstStyle/>
          <a:p>
            <a:pPr indent="0" marL="0">
              <a:buNone/>
            </a:pPr>
            <a:r>
              <a:rPr lang="en-US" sz="1600" b="1" dirty="0">
                <a:solidFill>
                  <a:srgbClr val="22D3EE"/>
                </a:solidFill>
                <a:latin typeface="Calibri" pitchFamily="34" charset="0"/>
                <a:ea typeface="Calibri" pitchFamily="34" charset="-122"/>
                <a:cs typeface="Calibri" pitchFamily="34" charset="-120"/>
              </a:rPr>
              <a:t>How it works</a:t>
            </a:r>
            <a:endParaRPr lang="en-US" sz="1600" dirty="0"/>
          </a:p>
        </p:txBody>
      </p:sp>
      <p:sp>
        <p:nvSpPr>
          <p:cNvPr id="5" name="Text 3"/>
          <p:cNvSpPr/>
          <p:nvPr/>
        </p:nvSpPr>
        <p:spPr>
          <a:xfrm>
            <a:off x="822960" y="2103120"/>
            <a:ext cx="6126480" cy="3931920"/>
          </a:xfrm>
          <a:prstGeom prst="rect">
            <a:avLst/>
          </a:prstGeom>
          <a:noFill/>
          <a:ln/>
        </p:spPr>
        <p:txBody>
          <a:bodyPr wrap="square" rtlCol="0" anchor="ctr"/>
          <a:lstStyle/>
          <a:p>
            <a:pPr indent="0" marL="0">
              <a:lnSpc>
                <a:spcPts val="2200"/>
              </a:lnSpc>
              <a:buNone/>
            </a:pPr>
            <a:r>
              <a:rPr lang="en-US" sz="1400" dirty="0">
                <a:solidFill>
                  <a:srgbClr val="DBE6F7"/>
                </a:solidFill>
                <a:latin typeface="Calibri" pitchFamily="34" charset="0"/>
                <a:ea typeface="Calibri" pitchFamily="34" charset="-122"/>
                <a:cs typeface="Calibri" pitchFamily="34" charset="-120"/>
              </a:rPr>
              <a:t>Live transcript is scored against five behavioural signal categories drawn from I4C-documented scam playbooks:
</a:t>
            </a:r>
            <a:endParaRPr lang="en-US" sz="1400" dirty="0"/>
          </a:p>
          <a:p>
            <a:pPr indent="0" marL="0">
              <a:lnSpc>
                <a:spcPts val="2200"/>
              </a:lnSpc>
              <a:buNone/>
            </a:pPr>
            <a:r>
              <a:rPr lang="en-US" sz="1400" dirty="0">
                <a:solidFill>
                  <a:srgbClr val="F8536B"/>
                </a:solidFill>
                <a:latin typeface="Calibri" pitchFamily="34" charset="0"/>
                <a:ea typeface="Calibri" pitchFamily="34" charset="-122"/>
                <a:cs typeface="Calibri" pitchFamily="34" charset="-120"/>
              </a:rPr>
              <a:t>1  Authority impersonation — “CBI officer”, “arrest warrant”
</a:t>
            </a:r>
            <a:pPr indent="0" marL="0">
              <a:lnSpc>
                <a:spcPts val="2200"/>
              </a:lnSpc>
              <a:buNone/>
            </a:pPr>
            <a:r>
              <a:rPr lang="en-US" sz="1400" dirty="0">
                <a:solidFill>
                  <a:srgbClr val="C084FC"/>
                </a:solidFill>
                <a:latin typeface="Calibri" pitchFamily="34" charset="0"/>
                <a:ea typeface="Calibri" pitchFamily="34" charset="-122"/>
                <a:cs typeface="Calibri" pitchFamily="34" charset="-120"/>
              </a:rPr>
              <a:t>2  Victim isolation — “do not disconnect”, “tell no one”
</a:t>
            </a:r>
            <a:pPr indent="0" marL="0">
              <a:lnSpc>
                <a:spcPts val="2200"/>
              </a:lnSpc>
              <a:buNone/>
            </a:pPr>
            <a:r>
              <a:rPr lang="en-US" sz="1400" dirty="0">
                <a:solidFill>
                  <a:srgbClr val="FBBF24"/>
                </a:solidFill>
                <a:latin typeface="Calibri" pitchFamily="34" charset="0"/>
                <a:ea typeface="Calibri" pitchFamily="34" charset="-122"/>
                <a:cs typeface="Calibri" pitchFamily="34" charset="-120"/>
              </a:rPr>
              <a:t>3  Urgency &amp; fear — “within 30 minutes”, “non-bailable”
</a:t>
            </a:r>
            <a:pPr indent="0" marL="0">
              <a:lnSpc>
                <a:spcPts val="2200"/>
              </a:lnSpc>
              <a:buNone/>
            </a:pPr>
            <a:r>
              <a:rPr lang="en-US" sz="1400" dirty="0">
                <a:solidFill>
                  <a:srgbClr val="22D3EE"/>
                </a:solidFill>
                <a:latin typeface="Calibri" pitchFamily="34" charset="0"/>
                <a:ea typeface="Calibri" pitchFamily="34" charset="-122"/>
                <a:cs typeface="Calibri" pitchFamily="34" charset="-120"/>
              </a:rPr>
              <a:t>4  Financial extraction — “safe account”, “RTGS immediately”
</a:t>
            </a:r>
            <a:pPr indent="0" marL="0">
              <a:lnSpc>
                <a:spcPts val="2200"/>
              </a:lnSpc>
              <a:buNone/>
            </a:pPr>
            <a:r>
              <a:rPr lang="en-US" sz="1400" dirty="0">
                <a:solidFill>
                  <a:srgbClr val="34D399"/>
                </a:solidFill>
                <a:latin typeface="Calibri" pitchFamily="34" charset="0"/>
                <a:ea typeface="Calibri" pitchFamily="34" charset="-122"/>
                <a:cs typeface="Calibri" pitchFamily="34" charset="-120"/>
              </a:rPr>
              <a:t>5  Identity harvesting — Aadhaar, OTP, net-banking access
</a:t>
            </a:r>
            <a:pPr indent="0" marL="0">
              <a:lnSpc>
                <a:spcPts val="2200"/>
              </a:lnSpc>
              <a:buNone/>
            </a:pPr>
            <a:r>
              <a:rPr lang="en-US" sz="1400" dirty="0">
                <a:solidFill>
                  <a:srgbClr val="DBE6F7"/>
                </a:solidFill>
                <a:latin typeface="Calibri" pitchFamily="34" charset="0"/>
                <a:ea typeface="Calibri" pitchFamily="34" charset="-122"/>
                <a:cs typeface="Calibri" pitchFamily="34" charset="-120"/>
              </a:rPr>
              <a:t>Weighted signal fusion means no single keyword can trigger a false alarm — a genuine bank call scores near zero. Verdicts are explainable, phrase by phrase.</a:t>
            </a:r>
            <a:endParaRPr lang="en-US" sz="1400" dirty="0"/>
          </a:p>
        </p:txBody>
      </p:sp>
      <p:sp>
        <p:nvSpPr>
          <p:cNvPr id="6" name="Shape 4"/>
          <p:cNvSpPr/>
          <p:nvPr/>
        </p:nvSpPr>
        <p:spPr>
          <a:xfrm>
            <a:off x="7498080" y="1463040"/>
            <a:ext cx="4114800" cy="2194560"/>
          </a:xfrm>
          <a:prstGeom prst="roundRect">
            <a:avLst>
              <a:gd name="adj" fmla="val 3333"/>
            </a:avLst>
          </a:prstGeom>
          <a:solidFill>
            <a:srgbClr val="1A0F1A"/>
          </a:solidFill>
          <a:ln w="9525">
            <a:solidFill>
              <a:srgbClr val="24365C"/>
            </a:solidFill>
            <a:prstDash val="solid"/>
          </a:ln>
        </p:spPr>
      </p:sp>
      <p:sp>
        <p:nvSpPr>
          <p:cNvPr id="7" name="Text 5"/>
          <p:cNvSpPr/>
          <p:nvPr/>
        </p:nvSpPr>
        <p:spPr>
          <a:xfrm>
            <a:off x="7726680" y="1691640"/>
            <a:ext cx="3657600" cy="640080"/>
          </a:xfrm>
          <a:prstGeom prst="rect">
            <a:avLst/>
          </a:prstGeom>
          <a:noFill/>
          <a:ln/>
        </p:spPr>
        <p:txBody>
          <a:bodyPr wrap="square" rtlCol="0" anchor="ctr"/>
          <a:lstStyle/>
          <a:p>
            <a:pPr indent="0" marL="0">
              <a:buNone/>
            </a:pPr>
            <a:r>
              <a:rPr lang="en-US" sz="1600" b="1" dirty="0">
                <a:solidFill>
                  <a:srgbClr val="F8536B"/>
                </a:solidFill>
                <a:latin typeface="Arial" pitchFamily="34" charset="0"/>
                <a:ea typeface="Arial" pitchFamily="34" charset="-122"/>
                <a:cs typeface="Arial" pitchFamily="34" charset="-120"/>
              </a:rPr>
              <a:t>🚨 DIGITAL ARREST SCAM DETECTED</a:t>
            </a:r>
            <a:endParaRPr lang="en-US" sz="1600" dirty="0"/>
          </a:p>
        </p:txBody>
      </p:sp>
      <p:sp>
        <p:nvSpPr>
          <p:cNvPr id="8" name="Text 6"/>
          <p:cNvSpPr/>
          <p:nvPr/>
        </p:nvSpPr>
        <p:spPr>
          <a:xfrm>
            <a:off x="7726680" y="2377440"/>
            <a:ext cx="3657600" cy="731520"/>
          </a:xfrm>
          <a:prstGeom prst="rect">
            <a:avLst/>
          </a:prstGeom>
          <a:noFill/>
          <a:ln/>
        </p:spPr>
        <p:txBody>
          <a:bodyPr wrap="square" rtlCol="0" anchor="ctr"/>
          <a:lstStyle/>
          <a:p>
            <a:pPr indent="0" marL="0">
              <a:buNone/>
            </a:pPr>
            <a:r>
              <a:rPr lang="en-US" sz="1300" dirty="0">
                <a:solidFill>
                  <a:srgbClr val="DBE6F7"/>
                </a:solidFill>
                <a:latin typeface="Calibri" pitchFamily="34" charset="0"/>
                <a:ea typeface="Calibri" pitchFamily="34" charset="-122"/>
                <a:cs typeface="Calibri" pitchFamily="34" charset="-120"/>
              </a:rPr>
              <a:t>Risk 97/100 · verdict in &lt;2s</a:t>
            </a:r>
            <a:endParaRPr lang="en-US" sz="1300" dirty="0"/>
          </a:p>
          <a:p>
            <a:pPr indent="0" marL="0">
              <a:buNone/>
            </a:pPr>
            <a:r>
              <a:rPr lang="en-US" sz="1300" dirty="0">
                <a:solidFill>
                  <a:srgbClr val="DBE6F7"/>
                </a:solidFill>
                <a:latin typeface="Calibri" pitchFamily="34" charset="0"/>
                <a:ea typeface="Calibri" pitchFamily="34" charset="-122"/>
                <a:cs typeface="Calibri" pitchFamily="34" charset="-120"/>
              </a:rPr>
              <a:t>Victim alerted before the transfer</a:t>
            </a:r>
            <a:endParaRPr lang="en-US" sz="1300" dirty="0"/>
          </a:p>
        </p:txBody>
      </p:sp>
      <p:sp>
        <p:nvSpPr>
          <p:cNvPr id="9" name="Text 7"/>
          <p:cNvSpPr/>
          <p:nvPr/>
        </p:nvSpPr>
        <p:spPr>
          <a:xfrm>
            <a:off x="7726680" y="3063240"/>
            <a:ext cx="3657600" cy="548640"/>
          </a:xfrm>
          <a:prstGeom prst="rect">
            <a:avLst/>
          </a:prstGeom>
          <a:noFill/>
          <a:ln/>
        </p:spPr>
        <p:txBody>
          <a:bodyPr wrap="square" rtlCol="0" anchor="ctr"/>
          <a:lstStyle/>
          <a:p>
            <a:pPr indent="0" marL="0">
              <a:buNone/>
            </a:pPr>
            <a:r>
              <a:rPr lang="en-US" sz="1100" dirty="0">
                <a:solidFill>
                  <a:srgbClr val="8CA0C4"/>
                </a:solidFill>
                <a:latin typeface="Calibri" pitchFamily="34" charset="0"/>
                <a:ea typeface="Calibri" pitchFamily="34" charset="-122"/>
                <a:cs typeface="Calibri" pitchFamily="34" charset="-120"/>
              </a:rPr>
              <a:t>✓ Victim device push-alert</a:t>
            </a:r>
            <a:endParaRPr lang="en-US" sz="1100" dirty="0"/>
          </a:p>
          <a:p>
            <a:pPr indent="0" marL="0">
              <a:buNone/>
            </a:pPr>
            <a:r>
              <a:rPr lang="en-US" sz="1100" dirty="0">
                <a:solidFill>
                  <a:srgbClr val="8CA0C4"/>
                </a:solidFill>
                <a:latin typeface="Calibri" pitchFamily="34" charset="0"/>
                <a:ea typeface="Calibri" pitchFamily="34" charset="-122"/>
                <a:cs typeface="Calibri" pitchFamily="34" charset="-120"/>
              </a:rPr>
              <a:t>✓ Telecom spoof-block request</a:t>
            </a:r>
            <a:endParaRPr lang="en-US" sz="1100" dirty="0"/>
          </a:p>
          <a:p>
            <a:pPr indent="0" marL="0">
              <a:buNone/>
            </a:pPr>
            <a:r>
              <a:rPr lang="en-US" sz="1100" dirty="0">
                <a:solidFill>
                  <a:srgbClr val="8CA0C4"/>
                </a:solidFill>
                <a:latin typeface="Calibri" pitchFamily="34" charset="0"/>
                <a:ea typeface="Calibri" pitchFamily="34" charset="-122"/>
                <a:cs typeface="Calibri" pitchFamily="34" charset="-120"/>
              </a:rPr>
              <a:t>✓ MHA / I4C report auto-generated</a:t>
            </a:r>
            <a:endParaRPr lang="en-US" sz="1100" dirty="0"/>
          </a:p>
        </p:txBody>
      </p:sp>
      <p:sp>
        <p:nvSpPr>
          <p:cNvPr id="10" name="Shape 8"/>
          <p:cNvSpPr/>
          <p:nvPr/>
        </p:nvSpPr>
        <p:spPr>
          <a:xfrm>
            <a:off x="7498080" y="3931920"/>
            <a:ext cx="4114800" cy="2286000"/>
          </a:xfrm>
          <a:prstGeom prst="roundRect">
            <a:avLst>
              <a:gd name="adj" fmla="val 3200"/>
            </a:avLst>
          </a:prstGeom>
          <a:solidFill>
            <a:srgbClr val="141F38"/>
          </a:solidFill>
          <a:ln w="9525">
            <a:solidFill>
              <a:srgbClr val="24365C"/>
            </a:solidFill>
            <a:prstDash val="solid"/>
          </a:ln>
        </p:spPr>
      </p:sp>
      <p:sp>
        <p:nvSpPr>
          <p:cNvPr id="11" name="Text 9"/>
          <p:cNvSpPr/>
          <p:nvPr/>
        </p:nvSpPr>
        <p:spPr>
          <a:xfrm>
            <a:off x="7726680" y="4114800"/>
            <a:ext cx="3657600" cy="365760"/>
          </a:xfrm>
          <a:prstGeom prst="rect">
            <a:avLst/>
          </a:prstGeom>
          <a:noFill/>
          <a:ln/>
        </p:spPr>
        <p:txBody>
          <a:bodyPr wrap="square"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Roadmap reach</a:t>
            </a:r>
            <a:endParaRPr lang="en-US" sz="1400" dirty="0"/>
          </a:p>
        </p:txBody>
      </p:sp>
      <p:sp>
        <p:nvSpPr>
          <p:cNvPr id="12" name="Text 10"/>
          <p:cNvSpPr/>
          <p:nvPr/>
        </p:nvSpPr>
        <p:spPr>
          <a:xfrm>
            <a:off x="7726680" y="4526280"/>
            <a:ext cx="3657600" cy="1554480"/>
          </a:xfrm>
          <a:prstGeom prst="rect">
            <a:avLst/>
          </a:prstGeom>
          <a:noFill/>
          <a:ln/>
        </p:spPr>
        <p:txBody>
          <a:bodyPr wrap="square" rtlCol="0" anchor="ctr"/>
          <a:lstStyle/>
          <a:p>
            <a:pPr indent="0" marL="0">
              <a:lnSpc>
                <a:spcPts val="1900"/>
              </a:lnSpc>
              <a:buNone/>
            </a:pPr>
            <a:r>
              <a:rPr lang="en-US" sz="1250" dirty="0">
                <a:solidFill>
                  <a:srgbClr val="DBE6F7"/>
                </a:solidFill>
                <a:latin typeface="Calibri" pitchFamily="34" charset="0"/>
                <a:ea typeface="Calibri" pitchFamily="34" charset="-122"/>
                <a:cs typeface="Calibri" pitchFamily="34" charset="-120"/>
              </a:rPr>
              <a:t>Citizen Shield on WhatsApp &amp; IVR in 12 regional languages · guided reporting to the 1930 helpline · on-device speech-to-text so audio never leaves the phone</a:t>
            </a:r>
            <a:endParaRPr lang="en-US" sz="1250" dirty="0"/>
          </a:p>
        </p:txBody>
      </p:sp>
      <p:sp>
        <p:nvSpPr>
          <p:cNvPr id="13" name="Text 11"/>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14" name="Text 12"/>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FICN Scanner — every phone becomes a detector</a:t>
            </a:r>
            <a:endParaRPr lang="en-US" sz="3600" dirty="0"/>
          </a:p>
        </p:txBody>
      </p:sp>
      <p:sp>
        <p:nvSpPr>
          <p:cNvPr id="3" name="Shape 1"/>
          <p:cNvSpPr/>
          <p:nvPr/>
        </p:nvSpPr>
        <p:spPr>
          <a:xfrm>
            <a:off x="548640" y="1463040"/>
            <a:ext cx="6675120" cy="4754880"/>
          </a:xfrm>
          <a:prstGeom prst="roundRect">
            <a:avLst>
              <a:gd name="adj" fmla="val 1538"/>
            </a:avLst>
          </a:prstGeom>
          <a:solidFill>
            <a:srgbClr val="141F38"/>
          </a:solidFill>
          <a:ln w="9525">
            <a:solidFill>
              <a:srgbClr val="24365C"/>
            </a:solidFill>
            <a:prstDash val="solid"/>
          </a:ln>
        </p:spPr>
      </p:sp>
      <p:sp>
        <p:nvSpPr>
          <p:cNvPr id="4" name="Text 2"/>
          <p:cNvSpPr/>
          <p:nvPr/>
        </p:nvSpPr>
        <p:spPr>
          <a:xfrm>
            <a:off x="822960" y="1645920"/>
            <a:ext cx="6126480" cy="365760"/>
          </a:xfrm>
          <a:prstGeom prst="rect">
            <a:avLst/>
          </a:prstGeom>
          <a:noFill/>
          <a:ln/>
        </p:spPr>
        <p:txBody>
          <a:bodyPr wrap="square"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Seven-point RBI security-feature verification</a:t>
            </a:r>
            <a:endParaRPr lang="en-US" sz="1600" dirty="0"/>
          </a:p>
        </p:txBody>
      </p:sp>
      <p:sp>
        <p:nvSpPr>
          <p:cNvPr id="5" name="Text 3"/>
          <p:cNvSpPr/>
          <p:nvPr/>
        </p:nvSpPr>
        <p:spPr>
          <a:xfrm>
            <a:off x="822960" y="2103120"/>
            <a:ext cx="6126480" cy="2377440"/>
          </a:xfrm>
          <a:prstGeom prst="rect">
            <a:avLst/>
          </a:prstGeom>
          <a:noFill/>
          <a:ln/>
        </p:spPr>
        <p:txBody>
          <a:bodyPr wrap="square" rtlCol="0" anchor="ctr"/>
          <a:lstStyle/>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Windowed colour-shift security thread</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Mahatma Gandhi watermark + electrotype</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Microlettering “RBI 500”</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Portrait intaglio relief (raised-ink signature)</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See-through register (₹ motif)</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Latent image &amp; colour-shift ink</a:t>
            </a:r>
            <a:endParaRPr lang="en-US" sz="1450" dirty="0"/>
          </a:p>
          <a:p>
            <a:pPr indent="0" marL="0">
              <a:lnSpc>
                <a:spcPts val="2400"/>
              </a:lnSpc>
              <a:buNone/>
            </a:pPr>
            <a:r>
              <a:rPr lang="en-US" sz="1450" dirty="0">
                <a:solidFill>
                  <a:srgbClr val="DBE6F7"/>
                </a:solidFill>
                <a:latin typeface="Calibri" pitchFamily="34" charset="0"/>
                <a:ea typeface="Calibri" pitchFamily="34" charset="-122"/>
                <a:cs typeface="Calibri" pitchFamily="34" charset="-120"/>
              </a:rPr>
              <a:t>✓  Serial-number font, checksum &amp; ascending pattern</a:t>
            </a:r>
            <a:endParaRPr lang="en-US" sz="1450" dirty="0"/>
          </a:p>
        </p:txBody>
      </p:sp>
      <p:sp>
        <p:nvSpPr>
          <p:cNvPr id="6" name="Text 4"/>
          <p:cNvSpPr/>
          <p:nvPr/>
        </p:nvSpPr>
        <p:spPr>
          <a:xfrm>
            <a:off x="822960" y="4709160"/>
            <a:ext cx="6126480" cy="1280160"/>
          </a:xfrm>
          <a:prstGeom prst="rect">
            <a:avLst/>
          </a:prstGeom>
          <a:noFill/>
          <a:ln/>
        </p:spPr>
        <p:txBody>
          <a:bodyPr wrap="square" rtlCol="0" anchor="ctr"/>
          <a:lstStyle/>
          <a:p>
            <a:pPr indent="0" marL="0">
              <a:lnSpc>
                <a:spcPts val="2100"/>
              </a:lnSpc>
              <a:buNone/>
            </a:pPr>
            <a:r>
              <a:rPr lang="en-US" sz="1400" i="1" dirty="0">
                <a:solidFill>
                  <a:srgbClr val="22D3EE"/>
                </a:solidFill>
                <a:latin typeface="Calibri" pitchFamily="34" charset="0"/>
                <a:ea typeface="Calibri" pitchFamily="34" charset="-122"/>
                <a:cs typeface="Calibri" pitchFamily="34" charset="-120"/>
              </a:rPr>
              <a:t>The differentiator: every scanned serial is cross-checked against the national FICN seizure registry — linking a note in a kirana store to a known smuggling corridor batch in real time.</a:t>
            </a:r>
            <a:endParaRPr lang="en-US" sz="1400" dirty="0"/>
          </a:p>
        </p:txBody>
      </p:sp>
      <p:sp>
        <p:nvSpPr>
          <p:cNvPr id="7" name="Shape 5"/>
          <p:cNvSpPr/>
          <p:nvPr/>
        </p:nvSpPr>
        <p:spPr>
          <a:xfrm>
            <a:off x="7498080" y="1463040"/>
            <a:ext cx="4114800" cy="2194560"/>
          </a:xfrm>
          <a:prstGeom prst="roundRect">
            <a:avLst>
              <a:gd name="adj" fmla="val 3333"/>
            </a:avLst>
          </a:prstGeom>
          <a:solidFill>
            <a:srgbClr val="1A0F14"/>
          </a:solidFill>
          <a:ln w="9525">
            <a:solidFill>
              <a:srgbClr val="24365C"/>
            </a:solidFill>
            <a:prstDash val="solid"/>
          </a:ln>
        </p:spPr>
      </p:sp>
      <p:sp>
        <p:nvSpPr>
          <p:cNvPr id="8" name="Text 6"/>
          <p:cNvSpPr/>
          <p:nvPr/>
        </p:nvSpPr>
        <p:spPr>
          <a:xfrm>
            <a:off x="7726680" y="1691640"/>
            <a:ext cx="3657600" cy="457200"/>
          </a:xfrm>
          <a:prstGeom prst="rect">
            <a:avLst/>
          </a:prstGeom>
          <a:noFill/>
          <a:ln/>
        </p:spPr>
        <p:txBody>
          <a:bodyPr wrap="square" rtlCol="0" anchor="ctr"/>
          <a:lstStyle/>
          <a:p>
            <a:pPr indent="0" marL="0">
              <a:buNone/>
            </a:pPr>
            <a:r>
              <a:rPr lang="en-US" sz="1600" b="1" dirty="0">
                <a:solidFill>
                  <a:srgbClr val="F8536B"/>
                </a:solidFill>
                <a:latin typeface="Arial" pitchFamily="34" charset="0"/>
                <a:ea typeface="Arial" pitchFamily="34" charset="-122"/>
                <a:cs typeface="Arial" pitchFamily="34" charset="-120"/>
              </a:rPr>
              <a:t>🚨 COUNTERFEIT DETECTED</a:t>
            </a:r>
            <a:endParaRPr lang="en-US" sz="1600" dirty="0"/>
          </a:p>
        </p:txBody>
      </p:sp>
      <p:sp>
        <p:nvSpPr>
          <p:cNvPr id="9" name="Text 7"/>
          <p:cNvSpPr/>
          <p:nvPr/>
        </p:nvSpPr>
        <p:spPr>
          <a:xfrm>
            <a:off x="7726680" y="2194560"/>
            <a:ext cx="3657600" cy="1280160"/>
          </a:xfrm>
          <a:prstGeom prst="rect">
            <a:avLst/>
          </a:prstGeom>
          <a:noFill/>
          <a:ln/>
        </p:spPr>
        <p:txBody>
          <a:bodyPr wrap="square" rtlCol="0" anchor="ctr"/>
          <a:lstStyle/>
          <a:p>
            <a:pPr indent="0" marL="0">
              <a:lnSpc>
                <a:spcPts val="1900"/>
              </a:lnSpc>
              <a:buNone/>
            </a:pPr>
            <a:r>
              <a:rPr lang="en-US" sz="1250" dirty="0">
                <a:solidFill>
                  <a:srgbClr val="DBE6F7"/>
                </a:solidFill>
                <a:latin typeface="Calibri" pitchFamily="34" charset="0"/>
                <a:ea typeface="Calibri" pitchFamily="34" charset="-122"/>
                <a:cs typeface="Calibri" pitchFamily="34" charset="-120"/>
              </a:rPr>
              <a:t>Authenticity 14.6% · 6/7 features failed</a:t>
            </a:r>
            <a:endParaRPr lang="en-US" sz="1250" dirty="0"/>
          </a:p>
          <a:p>
            <a:pPr indent="0" marL="0">
              <a:lnSpc>
                <a:spcPts val="1900"/>
              </a:lnSpc>
              <a:buNone/>
            </a:pPr>
            <a:r>
              <a:rPr lang="en-US" sz="1250" dirty="0">
                <a:solidFill>
                  <a:srgbClr val="DBE6F7"/>
                </a:solidFill>
                <a:latin typeface="Calibri" pitchFamily="34" charset="0"/>
                <a:ea typeface="Calibri" pitchFamily="34" charset="-122"/>
                <a:cs typeface="Calibri" pitchFamily="34" charset="-120"/>
              </a:rPr>
              <a:t>Serial matched to seized batch #F-118 (Malda corridor) · NCRB seizure report pre-filled</a:t>
            </a:r>
            <a:endParaRPr lang="en-US" sz="1250" dirty="0"/>
          </a:p>
        </p:txBody>
      </p:sp>
      <p:sp>
        <p:nvSpPr>
          <p:cNvPr id="10" name="Shape 8"/>
          <p:cNvSpPr/>
          <p:nvPr/>
        </p:nvSpPr>
        <p:spPr>
          <a:xfrm>
            <a:off x="7498080" y="3931920"/>
            <a:ext cx="4114800" cy="2286000"/>
          </a:xfrm>
          <a:prstGeom prst="roundRect">
            <a:avLst>
              <a:gd name="adj" fmla="val 3200"/>
            </a:avLst>
          </a:prstGeom>
          <a:solidFill>
            <a:srgbClr val="141F38"/>
          </a:solidFill>
          <a:ln w="9525">
            <a:solidFill>
              <a:srgbClr val="24365C"/>
            </a:solidFill>
            <a:prstDash val="solid"/>
          </a:ln>
        </p:spPr>
      </p:sp>
      <p:sp>
        <p:nvSpPr>
          <p:cNvPr id="11" name="Text 9"/>
          <p:cNvSpPr/>
          <p:nvPr/>
        </p:nvSpPr>
        <p:spPr>
          <a:xfrm>
            <a:off x="7726680" y="4114800"/>
            <a:ext cx="3657600" cy="365760"/>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Deploys on</a:t>
            </a:r>
            <a:endParaRPr lang="en-US" sz="1400" dirty="0"/>
          </a:p>
        </p:txBody>
      </p:sp>
      <p:sp>
        <p:nvSpPr>
          <p:cNvPr id="12" name="Text 10"/>
          <p:cNvSpPr/>
          <p:nvPr/>
        </p:nvSpPr>
        <p:spPr>
          <a:xfrm>
            <a:off x="7726680" y="4526280"/>
            <a:ext cx="3657600" cy="1554480"/>
          </a:xfrm>
          <a:prstGeom prst="rect">
            <a:avLst/>
          </a:prstGeom>
          <a:noFill/>
          <a:ln/>
        </p:spPr>
        <p:txBody>
          <a:bodyPr wrap="square" rtlCol="0" anchor="ctr"/>
          <a:lstStyle/>
          <a:p>
            <a:pPr indent="0" marL="0">
              <a:lnSpc>
                <a:spcPts val="1900"/>
              </a:lnSpc>
              <a:buNone/>
            </a:pPr>
            <a:r>
              <a:rPr lang="en-US" sz="1250" dirty="0">
                <a:solidFill>
                  <a:srgbClr val="DBE6F7"/>
                </a:solidFill>
                <a:latin typeface="Calibri" pitchFamily="34" charset="0"/>
                <a:ea typeface="Calibri" pitchFamily="34" charset="-122"/>
                <a:cs typeface="Calibri" pitchFamily="34" charset="-120"/>
              </a:rPr>
              <a:t>Smartphone cameras · bank counting machines · PoS terminals — 3-second verdicts for tellers, merchants and field officers, no new hardware</a:t>
            </a:r>
            <a:endParaRPr lang="en-US" sz="1250" dirty="0"/>
          </a:p>
        </p:txBody>
      </p:sp>
      <p:sp>
        <p:nvSpPr>
          <p:cNvPr id="13" name="Text 11"/>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14" name="Text 12"/>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Network Intel — from 12 FIRs to one campaign</a:t>
            </a:r>
            <a:endParaRPr lang="en-US" sz="3600" dirty="0"/>
          </a:p>
        </p:txBody>
      </p:sp>
      <p:sp>
        <p:nvSpPr>
          <p:cNvPr id="3" name="Shape 1"/>
          <p:cNvSpPr/>
          <p:nvPr/>
        </p:nvSpPr>
        <p:spPr>
          <a:xfrm>
            <a:off x="548640" y="1463040"/>
            <a:ext cx="6675120" cy="4754880"/>
          </a:xfrm>
          <a:prstGeom prst="roundRect">
            <a:avLst>
              <a:gd name="adj" fmla="val 1538"/>
            </a:avLst>
          </a:prstGeom>
          <a:solidFill>
            <a:srgbClr val="141F38"/>
          </a:solidFill>
          <a:ln w="9525">
            <a:solidFill>
              <a:srgbClr val="24365C"/>
            </a:solidFill>
            <a:prstDash val="solid"/>
          </a:ln>
        </p:spPr>
      </p:sp>
      <p:sp>
        <p:nvSpPr>
          <p:cNvPr id="4" name="Text 2"/>
          <p:cNvSpPr/>
          <p:nvPr/>
        </p:nvSpPr>
        <p:spPr>
          <a:xfrm>
            <a:off x="822960" y="1645920"/>
            <a:ext cx="6126480" cy="365760"/>
          </a:xfrm>
          <a:prstGeom prst="rect">
            <a:avLst/>
          </a:prstGeom>
          <a:noFill/>
          <a:ln/>
        </p:spPr>
        <p:txBody>
          <a:bodyPr wrap="square" rtlCol="0" anchor="ctr"/>
          <a:lstStyle/>
          <a:p>
            <a:pPr indent="0" marL="0">
              <a:buNone/>
            </a:pPr>
            <a:r>
              <a:rPr lang="en-US" sz="1600" b="1" dirty="0">
                <a:solidFill>
                  <a:srgbClr val="F8536B"/>
                </a:solidFill>
                <a:latin typeface="Calibri" pitchFamily="34" charset="0"/>
                <a:ea typeface="Calibri" pitchFamily="34" charset="-122"/>
                <a:cs typeface="Calibri" pitchFamily="34" charset="-120"/>
              </a:rPr>
              <a:t>Graph AI over fused intelligence</a:t>
            </a:r>
            <a:endParaRPr lang="en-US" sz="1600" dirty="0"/>
          </a:p>
        </p:txBody>
      </p:sp>
      <p:sp>
        <p:nvSpPr>
          <p:cNvPr id="5" name="Text 3"/>
          <p:cNvSpPr/>
          <p:nvPr/>
        </p:nvSpPr>
        <p:spPr>
          <a:xfrm>
            <a:off x="822960" y="2103120"/>
            <a:ext cx="6126480" cy="3840480"/>
          </a:xfrm>
          <a:prstGeom prst="rect">
            <a:avLst/>
          </a:prstGeom>
          <a:noFill/>
          <a:ln/>
        </p:spPr>
        <p:txBody>
          <a:bodyPr wrap="square" rtlCol="0" anchor="ctr"/>
          <a:lstStyle/>
          <a:p>
            <a:pPr indent="0" marL="0">
              <a:lnSpc>
                <a:spcPts val="2300"/>
              </a:lnSpc>
              <a:buNone/>
            </a:pPr>
            <a:r>
              <a:rPr lang="en-US" sz="1450" dirty="0">
                <a:solidFill>
                  <a:srgbClr val="DBE6F7"/>
                </a:solidFill>
                <a:latin typeface="Calibri" pitchFamily="34" charset="0"/>
                <a:ea typeface="Calibri" pitchFamily="34" charset="-122"/>
                <a:cs typeface="Calibri" pitchFamily="34" charset="-120"/>
              </a:rPr>
              <a:t>Entity graph fuses victim reports (I4C portal), telco CDR metadata, bank account-opening device fingerprints and account linkages. Community detection + temporal correlation expose what per-FIR investigation never sees:</a:t>
            </a:r>
            <a:endParaRPr lang="en-US" sz="1450" dirty="0"/>
          </a:p>
          <a:p>
            <a:pPr indent="0" marL="0">
              <a:lnSpc>
                <a:spcPts val="2300"/>
              </a:lnSpc>
              <a:buNone/>
            </a:pPr>
            <a:endParaRPr lang="en-US" sz="1450" dirty="0"/>
          </a:p>
          <a:p>
            <a:pPr indent="0" marL="0">
              <a:lnSpc>
                <a:spcPts val="2300"/>
              </a:lnSpc>
              <a:buNone/>
            </a:pPr>
            <a:r>
              <a:rPr lang="en-US" sz="1450" dirty="0">
                <a:solidFill>
                  <a:srgbClr val="DBE6F7"/>
                </a:solidFill>
                <a:latin typeface="Calibri" pitchFamily="34" charset="0"/>
                <a:ea typeface="Calibri" pitchFamily="34" charset="-122"/>
                <a:cs typeface="Calibri" pitchFamily="34" charset="-120"/>
              </a:rPr>
              <a:t>12 “unrelated” victim reports across 7 states  →  one coordinated ring, run from a cross-border compound, routing ₹4.2 Cr through 6 mule accounts into crypto off-ramps and shell firms — confirmed 31 hours after the first report, at 94% confidence.</a:t>
            </a:r>
            <a:endParaRPr lang="en-US" sz="1450" dirty="0"/>
          </a:p>
        </p:txBody>
      </p:sp>
      <p:sp>
        <p:nvSpPr>
          <p:cNvPr id="6" name="Shape 4"/>
          <p:cNvSpPr/>
          <p:nvPr/>
        </p:nvSpPr>
        <p:spPr>
          <a:xfrm>
            <a:off x="7498080" y="1463040"/>
            <a:ext cx="4114800" cy="2468880"/>
          </a:xfrm>
          <a:prstGeom prst="roundRect">
            <a:avLst>
              <a:gd name="adj" fmla="val 2963"/>
            </a:avLst>
          </a:prstGeom>
          <a:solidFill>
            <a:srgbClr val="10141F"/>
          </a:solidFill>
          <a:ln w="9525">
            <a:solidFill>
              <a:srgbClr val="24365C"/>
            </a:solidFill>
            <a:prstDash val="solid"/>
          </a:ln>
        </p:spPr>
      </p:sp>
      <p:sp>
        <p:nvSpPr>
          <p:cNvPr id="7" name="Text 5"/>
          <p:cNvSpPr/>
          <p:nvPr/>
        </p:nvSpPr>
        <p:spPr>
          <a:xfrm>
            <a:off x="7726680" y="1691640"/>
            <a:ext cx="3657600" cy="411480"/>
          </a:xfrm>
          <a:prstGeom prst="rect">
            <a:avLst/>
          </a:prstGeom>
          <a:noFill/>
          <a:ln/>
        </p:spPr>
        <p:txBody>
          <a:bodyPr wrap="square" rtlCol="0" anchor="ctr"/>
          <a:lstStyle/>
          <a:p>
            <a:pPr indent="0" marL="0">
              <a:buNone/>
            </a:pPr>
            <a:r>
              <a:rPr lang="en-US" sz="1600" b="1" dirty="0">
                <a:solidFill>
                  <a:srgbClr val="FBBF24"/>
                </a:solidFill>
                <a:latin typeface="Arial" pitchFamily="34" charset="0"/>
                <a:ea typeface="Arial" pitchFamily="34" charset="-122"/>
                <a:cs typeface="Arial" pitchFamily="34" charset="-120"/>
              </a:rPr>
              <a:t>⚖ Court-ready by design</a:t>
            </a:r>
            <a:endParaRPr lang="en-US" sz="1600" dirty="0"/>
          </a:p>
        </p:txBody>
      </p:sp>
      <p:sp>
        <p:nvSpPr>
          <p:cNvPr id="8" name="Text 6"/>
          <p:cNvSpPr/>
          <p:nvPr/>
        </p:nvSpPr>
        <p:spPr>
          <a:xfrm>
            <a:off x="7726680" y="2148840"/>
            <a:ext cx="3657600" cy="1645920"/>
          </a:xfrm>
          <a:prstGeom prst="rect">
            <a:avLst/>
          </a:prstGeom>
          <a:noFill/>
          <a:ln/>
        </p:spPr>
        <p:txBody>
          <a:bodyPr wrap="square" rtlCol="0" anchor="ctr"/>
          <a:lstStyle/>
          <a:p>
            <a:pPr indent="0" marL="0">
              <a:lnSpc>
                <a:spcPts val="1900"/>
              </a:lnSpc>
              <a:buNone/>
            </a:pPr>
            <a:r>
              <a:rPr lang="en-US" sz="1250" dirty="0">
                <a:solidFill>
                  <a:srgbClr val="DBE6F7"/>
                </a:solidFill>
                <a:latin typeface="Calibri" pitchFamily="34" charset="0"/>
                <a:ea typeface="Calibri" pitchFamily="34" charset="-122"/>
                <a:cs typeface="Calibri" pitchFamily="34" charset="-120"/>
              </a:rPr>
              <a:t>Evidence packages are SHA-256 integrity-sealed and timestamped, with chain-of-custody metadata — built for legal admissibility, not just dashboards.</a:t>
            </a:r>
            <a:endParaRPr lang="en-US" sz="1250" dirty="0"/>
          </a:p>
        </p:txBody>
      </p:sp>
      <p:sp>
        <p:nvSpPr>
          <p:cNvPr id="9" name="Shape 7"/>
          <p:cNvSpPr/>
          <p:nvPr/>
        </p:nvSpPr>
        <p:spPr>
          <a:xfrm>
            <a:off x="7498080" y="4206240"/>
            <a:ext cx="4114800" cy="2011680"/>
          </a:xfrm>
          <a:prstGeom prst="roundRect">
            <a:avLst>
              <a:gd name="adj" fmla="val 3636"/>
            </a:avLst>
          </a:prstGeom>
          <a:solidFill>
            <a:srgbClr val="141F38"/>
          </a:solidFill>
          <a:ln w="9525">
            <a:solidFill>
              <a:srgbClr val="24365C"/>
            </a:solidFill>
            <a:prstDash val="solid"/>
          </a:ln>
        </p:spPr>
      </p:sp>
      <p:sp>
        <p:nvSpPr>
          <p:cNvPr id="10" name="Text 8"/>
          <p:cNvSpPr/>
          <p:nvPr/>
        </p:nvSpPr>
        <p:spPr>
          <a:xfrm>
            <a:off x="7726680" y="4389120"/>
            <a:ext cx="3657600" cy="365760"/>
          </a:xfrm>
          <a:prstGeom prst="rect">
            <a:avLst/>
          </a:prstGeom>
          <a:noFill/>
          <a:ln/>
        </p:spPr>
        <p:txBody>
          <a:bodyPr wrap="square" rtlCol="0" anchor="ctr"/>
          <a:lstStyle/>
          <a:p>
            <a:pPr indent="0" marL="0">
              <a:buNone/>
            </a:pPr>
            <a:r>
              <a:rPr lang="en-US" sz="1400" b="1" dirty="0">
                <a:solidFill>
                  <a:srgbClr val="F8536B"/>
                </a:solidFill>
                <a:latin typeface="Calibri" pitchFamily="34" charset="0"/>
                <a:ea typeface="Calibri" pitchFamily="34" charset="-122"/>
                <a:cs typeface="Calibri" pitchFamily="34" charset="-120"/>
              </a:rPr>
              <a:t>One-click actions</a:t>
            </a:r>
            <a:endParaRPr lang="en-US" sz="1400" dirty="0"/>
          </a:p>
        </p:txBody>
      </p:sp>
      <p:sp>
        <p:nvSpPr>
          <p:cNvPr id="11" name="Text 9"/>
          <p:cNvSpPr/>
          <p:nvPr/>
        </p:nvSpPr>
        <p:spPr>
          <a:xfrm>
            <a:off x="7726680" y="4800600"/>
            <a:ext cx="3657600" cy="1280160"/>
          </a:xfrm>
          <a:prstGeom prst="rect">
            <a:avLst/>
          </a:prstGeom>
          <a:noFill/>
          <a:ln/>
        </p:spPr>
        <p:txBody>
          <a:bodyPr wrap="square" rtlCol="0" anchor="ctr"/>
          <a:lstStyle/>
          <a:p>
            <a:pPr indent="0" marL="0">
              <a:lnSpc>
                <a:spcPts val="2000"/>
              </a:lnSpc>
              <a:buNone/>
            </a:pPr>
            <a:r>
              <a:rPr lang="en-US" sz="1250" dirty="0">
                <a:solidFill>
                  <a:srgbClr val="DBE6F7"/>
                </a:solidFill>
                <a:latin typeface="Calibri" pitchFamily="34" charset="0"/>
                <a:ea typeface="Calibri" pitchFamily="34" charset="-122"/>
                <a:cs typeface="Calibri" pitchFamily="34" charset="-120"/>
              </a:rPr>
              <a:t>✓ Freeze requests for all mule accounts</a:t>
            </a:r>
            <a:endParaRPr lang="en-US" sz="1250" dirty="0"/>
          </a:p>
          <a:p>
            <a:pPr indent="0" marL="0">
              <a:lnSpc>
                <a:spcPts val="2000"/>
              </a:lnSpc>
              <a:buNone/>
            </a:pPr>
            <a:r>
              <a:rPr lang="en-US" sz="1250" dirty="0">
                <a:solidFill>
                  <a:srgbClr val="DBE6F7"/>
                </a:solidFill>
                <a:latin typeface="Calibri" pitchFamily="34" charset="0"/>
                <a:ea typeface="Calibri" pitchFamily="34" charset="-122"/>
                <a:cs typeface="Calibri" pitchFamily="34" charset="-120"/>
              </a:rPr>
              <a:t>✓ Inter-state alerts to 7 cyber cells</a:t>
            </a:r>
            <a:endParaRPr lang="en-US" sz="1250" dirty="0"/>
          </a:p>
          <a:p>
            <a:pPr indent="0" marL="0">
              <a:lnSpc>
                <a:spcPts val="2000"/>
              </a:lnSpc>
              <a:buNone/>
            </a:pPr>
            <a:r>
              <a:rPr lang="en-US" sz="1250" dirty="0">
                <a:solidFill>
                  <a:srgbClr val="DBE6F7"/>
                </a:solidFill>
                <a:latin typeface="Calibri" pitchFamily="34" charset="0"/>
                <a:ea typeface="Calibri" pitchFamily="34" charset="-122"/>
                <a:cs typeface="Calibri" pitchFamily="34" charset="-120"/>
              </a:rPr>
              <a:t>✓ VoIP block takedown request to DoT</a:t>
            </a:r>
            <a:endParaRPr lang="en-US" sz="1250" dirty="0"/>
          </a:p>
        </p:txBody>
      </p:sp>
      <p:sp>
        <p:nvSpPr>
          <p:cNvPr id="12" name="Text 10"/>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13" name="Text 11"/>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457200" y="411480"/>
            <a:ext cx="11247120" cy="73152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Built against the judging criteria</a:t>
            </a:r>
            <a:endParaRPr lang="en-US" sz="3800" dirty="0"/>
          </a:p>
        </p:txBody>
      </p:sp>
      <p:sp>
        <p:nvSpPr>
          <p:cNvPr id="3" name="Shape 1"/>
          <p:cNvSpPr/>
          <p:nvPr/>
        </p:nvSpPr>
        <p:spPr>
          <a:xfrm>
            <a:off x="548640" y="1463040"/>
            <a:ext cx="4206240" cy="804672"/>
          </a:xfrm>
          <a:prstGeom prst="roundRect">
            <a:avLst>
              <a:gd name="adj" fmla="val 9091"/>
            </a:avLst>
          </a:prstGeom>
          <a:solidFill>
            <a:srgbClr val="141F38"/>
          </a:solidFill>
          <a:ln w="9525">
            <a:solidFill>
              <a:srgbClr val="24365C"/>
            </a:solidFill>
            <a:prstDash val="solid"/>
          </a:ln>
        </p:spPr>
      </p:sp>
      <p:sp>
        <p:nvSpPr>
          <p:cNvPr id="4" name="Shape 2"/>
          <p:cNvSpPr/>
          <p:nvPr/>
        </p:nvSpPr>
        <p:spPr>
          <a:xfrm>
            <a:off x="4892040" y="1463040"/>
            <a:ext cx="6720840" cy="804672"/>
          </a:xfrm>
          <a:prstGeom prst="roundRect">
            <a:avLst>
              <a:gd name="adj" fmla="val 9091"/>
            </a:avLst>
          </a:prstGeom>
          <a:solidFill>
            <a:srgbClr val="10182B"/>
          </a:solidFill>
          <a:ln w="9525">
            <a:solidFill>
              <a:srgbClr val="24365C"/>
            </a:solidFill>
            <a:prstDash val="solid"/>
          </a:ln>
        </p:spPr>
      </p:sp>
      <p:sp>
        <p:nvSpPr>
          <p:cNvPr id="5" name="Text 3"/>
          <p:cNvSpPr/>
          <p:nvPr/>
        </p:nvSpPr>
        <p:spPr>
          <a:xfrm>
            <a:off x="777240" y="1517904"/>
            <a:ext cx="3749040" cy="694944"/>
          </a:xfrm>
          <a:prstGeom prst="rect">
            <a:avLst/>
          </a:prstGeom>
          <a:noFill/>
          <a:ln/>
        </p:spPr>
        <p:txBody>
          <a:bodyPr wrap="square"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Scam detection precision &amp; recall</a:t>
            </a:r>
            <a:endParaRPr lang="en-US" sz="1350" dirty="0"/>
          </a:p>
        </p:txBody>
      </p:sp>
      <p:sp>
        <p:nvSpPr>
          <p:cNvPr id="6" name="Text 4"/>
          <p:cNvSpPr/>
          <p:nvPr/>
        </p:nvSpPr>
        <p:spPr>
          <a:xfrm>
            <a:off x="5120640" y="1517904"/>
            <a:ext cx="6309360" cy="694944"/>
          </a:xfrm>
          <a:prstGeom prst="rect">
            <a:avLst/>
          </a:prstGeom>
          <a:noFill/>
          <a:ln/>
        </p:spPr>
        <p:txBody>
          <a:bodyPr wrap="square" rtlCol="0" anchor="ctr"/>
          <a:lstStyle/>
          <a:p>
            <a:pPr indent="0" marL="0">
              <a:buNone/>
            </a:pPr>
            <a:r>
              <a:rPr lang="en-US" sz="1250" dirty="0">
                <a:solidFill>
                  <a:srgbClr val="DBE6F7"/>
                </a:solidFill>
                <a:latin typeface="Calibri" pitchFamily="34" charset="0"/>
                <a:ea typeface="Calibri" pitchFamily="34" charset="-122"/>
                <a:cs typeface="Calibri" pitchFamily="34" charset="-120"/>
              </a:rPr>
              <a:t>Weighted 5-category fusion — no single keyword triggers an alarm; benign bank call demoed as negative control</a:t>
            </a:r>
            <a:endParaRPr lang="en-US" sz="1250" dirty="0"/>
          </a:p>
        </p:txBody>
      </p:sp>
      <p:sp>
        <p:nvSpPr>
          <p:cNvPr id="7" name="Shape 5"/>
          <p:cNvSpPr/>
          <p:nvPr/>
        </p:nvSpPr>
        <p:spPr>
          <a:xfrm>
            <a:off x="548640" y="2395728"/>
            <a:ext cx="4206240" cy="804672"/>
          </a:xfrm>
          <a:prstGeom prst="roundRect">
            <a:avLst>
              <a:gd name="adj" fmla="val 9091"/>
            </a:avLst>
          </a:prstGeom>
          <a:solidFill>
            <a:srgbClr val="141F38"/>
          </a:solidFill>
          <a:ln w="9525">
            <a:solidFill>
              <a:srgbClr val="24365C"/>
            </a:solidFill>
            <a:prstDash val="solid"/>
          </a:ln>
        </p:spPr>
      </p:sp>
      <p:sp>
        <p:nvSpPr>
          <p:cNvPr id="8" name="Shape 6"/>
          <p:cNvSpPr/>
          <p:nvPr/>
        </p:nvSpPr>
        <p:spPr>
          <a:xfrm>
            <a:off x="4892040" y="2395728"/>
            <a:ext cx="6720840" cy="804672"/>
          </a:xfrm>
          <a:prstGeom prst="roundRect">
            <a:avLst>
              <a:gd name="adj" fmla="val 9091"/>
            </a:avLst>
          </a:prstGeom>
          <a:solidFill>
            <a:srgbClr val="10182B"/>
          </a:solidFill>
          <a:ln w="9525">
            <a:solidFill>
              <a:srgbClr val="24365C"/>
            </a:solidFill>
            <a:prstDash val="solid"/>
          </a:ln>
        </p:spPr>
      </p:sp>
      <p:sp>
        <p:nvSpPr>
          <p:cNvPr id="9" name="Text 7"/>
          <p:cNvSpPr/>
          <p:nvPr/>
        </p:nvSpPr>
        <p:spPr>
          <a:xfrm>
            <a:off x="777240" y="2450592"/>
            <a:ext cx="3749040" cy="694944"/>
          </a:xfrm>
          <a:prstGeom prst="rect">
            <a:avLst/>
          </a:prstGeom>
          <a:noFill/>
          <a:ln/>
        </p:spPr>
        <p:txBody>
          <a:bodyPr wrap="square"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Counterfeit detection across print quality</a:t>
            </a:r>
            <a:endParaRPr lang="en-US" sz="1350" dirty="0"/>
          </a:p>
        </p:txBody>
      </p:sp>
      <p:sp>
        <p:nvSpPr>
          <p:cNvPr id="10" name="Text 8"/>
          <p:cNvSpPr/>
          <p:nvPr/>
        </p:nvSpPr>
        <p:spPr>
          <a:xfrm>
            <a:off x="5120640" y="2450592"/>
            <a:ext cx="6309360" cy="694944"/>
          </a:xfrm>
          <a:prstGeom prst="rect">
            <a:avLst/>
          </a:prstGeom>
          <a:noFill/>
          <a:ln/>
        </p:spPr>
        <p:txBody>
          <a:bodyPr wrap="square" rtlCol="0" anchor="ctr"/>
          <a:lstStyle/>
          <a:p>
            <a:pPr indent="0" marL="0">
              <a:buNone/>
            </a:pPr>
            <a:r>
              <a:rPr lang="en-US" sz="1250" dirty="0">
                <a:solidFill>
                  <a:srgbClr val="DBE6F7"/>
                </a:solidFill>
                <a:latin typeface="Calibri" pitchFamily="34" charset="0"/>
                <a:ea typeface="Calibri" pitchFamily="34" charset="-122"/>
                <a:cs typeface="Calibri" pitchFamily="34" charset="-120"/>
              </a:rPr>
              <a:t>Per-feature confidence scoring + serial-pattern validation catches even high-quality reprints of seized series</a:t>
            </a:r>
            <a:endParaRPr lang="en-US" sz="1250" dirty="0"/>
          </a:p>
        </p:txBody>
      </p:sp>
      <p:sp>
        <p:nvSpPr>
          <p:cNvPr id="11" name="Shape 9"/>
          <p:cNvSpPr/>
          <p:nvPr/>
        </p:nvSpPr>
        <p:spPr>
          <a:xfrm>
            <a:off x="548640" y="3328416"/>
            <a:ext cx="4206240" cy="804672"/>
          </a:xfrm>
          <a:prstGeom prst="roundRect">
            <a:avLst>
              <a:gd name="adj" fmla="val 9091"/>
            </a:avLst>
          </a:prstGeom>
          <a:solidFill>
            <a:srgbClr val="141F38"/>
          </a:solidFill>
          <a:ln w="9525">
            <a:solidFill>
              <a:srgbClr val="24365C"/>
            </a:solidFill>
            <a:prstDash val="solid"/>
          </a:ln>
        </p:spPr>
      </p:sp>
      <p:sp>
        <p:nvSpPr>
          <p:cNvPr id="12" name="Shape 10"/>
          <p:cNvSpPr/>
          <p:nvPr/>
        </p:nvSpPr>
        <p:spPr>
          <a:xfrm>
            <a:off x="4892040" y="3328416"/>
            <a:ext cx="6720840" cy="804672"/>
          </a:xfrm>
          <a:prstGeom prst="roundRect">
            <a:avLst>
              <a:gd name="adj" fmla="val 9091"/>
            </a:avLst>
          </a:prstGeom>
          <a:solidFill>
            <a:srgbClr val="10182B"/>
          </a:solidFill>
          <a:ln w="9525">
            <a:solidFill>
              <a:srgbClr val="24365C"/>
            </a:solidFill>
            <a:prstDash val="solid"/>
          </a:ln>
        </p:spPr>
      </p:sp>
      <p:sp>
        <p:nvSpPr>
          <p:cNvPr id="13" name="Text 11"/>
          <p:cNvSpPr/>
          <p:nvPr/>
        </p:nvSpPr>
        <p:spPr>
          <a:xfrm>
            <a:off x="777240" y="3383280"/>
            <a:ext cx="3749040" cy="694944"/>
          </a:xfrm>
          <a:prstGeom prst="rect">
            <a:avLst/>
          </a:prstGeom>
          <a:noFill/>
          <a:ln/>
        </p:spPr>
        <p:txBody>
          <a:bodyPr wrap="square"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Lead time before mass victimisation</a:t>
            </a:r>
            <a:endParaRPr lang="en-US" sz="1350" dirty="0"/>
          </a:p>
        </p:txBody>
      </p:sp>
      <p:sp>
        <p:nvSpPr>
          <p:cNvPr id="14" name="Text 12"/>
          <p:cNvSpPr/>
          <p:nvPr/>
        </p:nvSpPr>
        <p:spPr>
          <a:xfrm>
            <a:off x="5120640" y="3383280"/>
            <a:ext cx="6309360" cy="694944"/>
          </a:xfrm>
          <a:prstGeom prst="rect">
            <a:avLst/>
          </a:prstGeom>
          <a:noFill/>
          <a:ln/>
        </p:spPr>
        <p:txBody>
          <a:bodyPr wrap="square" rtlCol="0" anchor="ctr"/>
          <a:lstStyle/>
          <a:p>
            <a:pPr indent="0" marL="0">
              <a:buNone/>
            </a:pPr>
            <a:r>
              <a:rPr lang="en-US" sz="1250" dirty="0">
                <a:solidFill>
                  <a:srgbClr val="DBE6F7"/>
                </a:solidFill>
                <a:latin typeface="Calibri" pitchFamily="34" charset="0"/>
                <a:ea typeface="Calibri" pitchFamily="34" charset="-122"/>
                <a:cs typeface="Calibri" pitchFamily="34" charset="-120"/>
              </a:rPr>
              <a:t>Campaign confirmed at T+31 hours after first report — while mule accounts still hold funds</a:t>
            </a:r>
            <a:endParaRPr lang="en-US" sz="1250" dirty="0"/>
          </a:p>
        </p:txBody>
      </p:sp>
      <p:sp>
        <p:nvSpPr>
          <p:cNvPr id="15" name="Shape 13"/>
          <p:cNvSpPr/>
          <p:nvPr/>
        </p:nvSpPr>
        <p:spPr>
          <a:xfrm>
            <a:off x="548640" y="4261104"/>
            <a:ext cx="4206240" cy="804672"/>
          </a:xfrm>
          <a:prstGeom prst="roundRect">
            <a:avLst>
              <a:gd name="adj" fmla="val 9091"/>
            </a:avLst>
          </a:prstGeom>
          <a:solidFill>
            <a:srgbClr val="141F38"/>
          </a:solidFill>
          <a:ln w="9525">
            <a:solidFill>
              <a:srgbClr val="24365C"/>
            </a:solidFill>
            <a:prstDash val="solid"/>
          </a:ln>
        </p:spPr>
      </p:sp>
      <p:sp>
        <p:nvSpPr>
          <p:cNvPr id="16" name="Shape 14"/>
          <p:cNvSpPr/>
          <p:nvPr/>
        </p:nvSpPr>
        <p:spPr>
          <a:xfrm>
            <a:off x="4892040" y="4261104"/>
            <a:ext cx="6720840" cy="804672"/>
          </a:xfrm>
          <a:prstGeom prst="roundRect">
            <a:avLst>
              <a:gd name="adj" fmla="val 9091"/>
            </a:avLst>
          </a:prstGeom>
          <a:solidFill>
            <a:srgbClr val="10182B"/>
          </a:solidFill>
          <a:ln w="9525">
            <a:solidFill>
              <a:srgbClr val="24365C"/>
            </a:solidFill>
            <a:prstDash val="solid"/>
          </a:ln>
        </p:spPr>
      </p:sp>
      <p:sp>
        <p:nvSpPr>
          <p:cNvPr id="17" name="Text 15"/>
          <p:cNvSpPr/>
          <p:nvPr/>
        </p:nvSpPr>
        <p:spPr>
          <a:xfrm>
            <a:off x="777240" y="4315968"/>
            <a:ext cx="3749040" cy="694944"/>
          </a:xfrm>
          <a:prstGeom prst="rect">
            <a:avLst/>
          </a:prstGeom>
          <a:noFill/>
          <a:ln/>
        </p:spPr>
        <p:txBody>
          <a:bodyPr wrap="square"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Very low citizen-facing false positives</a:t>
            </a:r>
            <a:endParaRPr lang="en-US" sz="1350" dirty="0"/>
          </a:p>
        </p:txBody>
      </p:sp>
      <p:sp>
        <p:nvSpPr>
          <p:cNvPr id="18" name="Text 16"/>
          <p:cNvSpPr/>
          <p:nvPr/>
        </p:nvSpPr>
        <p:spPr>
          <a:xfrm>
            <a:off x="5120640" y="4315968"/>
            <a:ext cx="6309360" cy="694944"/>
          </a:xfrm>
          <a:prstGeom prst="rect">
            <a:avLst/>
          </a:prstGeom>
          <a:noFill/>
          <a:ln/>
        </p:spPr>
        <p:txBody>
          <a:bodyPr wrap="square" rtlCol="0" anchor="ctr"/>
          <a:lstStyle/>
          <a:p>
            <a:pPr indent="0" marL="0">
              <a:buNone/>
            </a:pPr>
            <a:r>
              <a:rPr lang="en-US" sz="1250" dirty="0">
                <a:solidFill>
                  <a:srgbClr val="DBE6F7"/>
                </a:solidFill>
                <a:latin typeface="Calibri" pitchFamily="34" charset="0"/>
                <a:ea typeface="Calibri" pitchFamily="34" charset="-122"/>
                <a:cs typeface="Calibri" pitchFamily="34" charset="-120"/>
              </a:rPr>
              <a:t>Explainable, phrase-level verdicts; saturating category scores; tiered verdicts instead of binary alarms</a:t>
            </a:r>
            <a:endParaRPr lang="en-US" sz="1250" dirty="0"/>
          </a:p>
        </p:txBody>
      </p:sp>
      <p:sp>
        <p:nvSpPr>
          <p:cNvPr id="19" name="Shape 17"/>
          <p:cNvSpPr/>
          <p:nvPr/>
        </p:nvSpPr>
        <p:spPr>
          <a:xfrm>
            <a:off x="548640" y="5193792"/>
            <a:ext cx="4206240" cy="804672"/>
          </a:xfrm>
          <a:prstGeom prst="roundRect">
            <a:avLst>
              <a:gd name="adj" fmla="val 9091"/>
            </a:avLst>
          </a:prstGeom>
          <a:solidFill>
            <a:srgbClr val="141F38"/>
          </a:solidFill>
          <a:ln w="9525">
            <a:solidFill>
              <a:srgbClr val="24365C"/>
            </a:solidFill>
            <a:prstDash val="solid"/>
          </a:ln>
        </p:spPr>
      </p:sp>
      <p:sp>
        <p:nvSpPr>
          <p:cNvPr id="20" name="Shape 18"/>
          <p:cNvSpPr/>
          <p:nvPr/>
        </p:nvSpPr>
        <p:spPr>
          <a:xfrm>
            <a:off x="4892040" y="5193792"/>
            <a:ext cx="6720840" cy="804672"/>
          </a:xfrm>
          <a:prstGeom prst="roundRect">
            <a:avLst>
              <a:gd name="adj" fmla="val 9091"/>
            </a:avLst>
          </a:prstGeom>
          <a:solidFill>
            <a:srgbClr val="10182B"/>
          </a:solidFill>
          <a:ln w="9525">
            <a:solidFill>
              <a:srgbClr val="24365C"/>
            </a:solidFill>
            <a:prstDash val="solid"/>
          </a:ln>
        </p:spPr>
      </p:sp>
      <p:sp>
        <p:nvSpPr>
          <p:cNvPr id="21" name="Text 19"/>
          <p:cNvSpPr/>
          <p:nvPr/>
        </p:nvSpPr>
        <p:spPr>
          <a:xfrm>
            <a:off x="777240" y="5248656"/>
            <a:ext cx="3749040" cy="694944"/>
          </a:xfrm>
          <a:prstGeom prst="rect">
            <a:avLst/>
          </a:prstGeom>
          <a:noFill/>
          <a:ln/>
        </p:spPr>
        <p:txBody>
          <a:bodyPr wrap="square"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Auditability &amp; legal admissibility</a:t>
            </a:r>
            <a:endParaRPr lang="en-US" sz="1350" dirty="0"/>
          </a:p>
        </p:txBody>
      </p:sp>
      <p:sp>
        <p:nvSpPr>
          <p:cNvPr id="22" name="Text 20"/>
          <p:cNvSpPr/>
          <p:nvPr/>
        </p:nvSpPr>
        <p:spPr>
          <a:xfrm>
            <a:off x="5120640" y="5248656"/>
            <a:ext cx="6309360" cy="694944"/>
          </a:xfrm>
          <a:prstGeom prst="rect">
            <a:avLst/>
          </a:prstGeom>
          <a:noFill/>
          <a:ln/>
        </p:spPr>
        <p:txBody>
          <a:bodyPr wrap="square" rtlCol="0" anchor="ctr"/>
          <a:lstStyle/>
          <a:p>
            <a:pPr indent="0" marL="0">
              <a:buNone/>
            </a:pPr>
            <a:r>
              <a:rPr lang="en-US" sz="1250" dirty="0">
                <a:solidFill>
                  <a:srgbClr val="DBE6F7"/>
                </a:solidFill>
                <a:latin typeface="Calibri" pitchFamily="34" charset="0"/>
                <a:ea typeface="Calibri" pitchFamily="34" charset="-122"/>
                <a:cs typeface="Calibri" pitchFamily="34" charset="-120"/>
              </a:rPr>
              <a:t>SHA-256-sealed, timestamped evidence packages with chain-of-custody metadata</a:t>
            </a:r>
            <a:endParaRPr lang="en-US" sz="1250" dirty="0"/>
          </a:p>
        </p:txBody>
      </p:sp>
      <p:sp>
        <p:nvSpPr>
          <p:cNvPr id="23" name="Text 21"/>
          <p:cNvSpPr/>
          <p:nvPr/>
        </p:nvSpPr>
        <p:spPr>
          <a:xfrm>
            <a:off x="457200" y="6446520"/>
            <a:ext cx="6400800" cy="320040"/>
          </a:xfrm>
          <a:prstGeom prst="rect">
            <a:avLst/>
          </a:prstGeom>
          <a:noFill/>
          <a:ln/>
        </p:spPr>
        <p:txBody>
          <a:bodyPr wrap="square" rtlCol="0" anchor="ctr"/>
          <a:lstStyle/>
          <a:p>
            <a:pPr indent="0" marL="0">
              <a:buNone/>
            </a:pPr>
            <a:r>
              <a:rPr lang="en-US" sz="900" dirty="0">
                <a:solidFill>
                  <a:srgbClr val="8CA0C4"/>
                </a:solidFill>
                <a:latin typeface="Calibri" pitchFamily="34" charset="0"/>
                <a:ea typeface="Calibri" pitchFamily="34" charset="-122"/>
                <a:cs typeface="Calibri" pitchFamily="34" charset="-120"/>
              </a:rPr>
              <a:t>PRAHARI — ET AI Hackathon 2.0 · Problem Statement #6</a:t>
            </a:r>
            <a:endParaRPr lang="en-US" sz="900" dirty="0"/>
          </a:p>
        </p:txBody>
      </p:sp>
      <p:sp>
        <p:nvSpPr>
          <p:cNvPr id="24" name="Text 22"/>
          <p:cNvSpPr/>
          <p:nvPr/>
        </p:nvSpPr>
        <p:spPr>
          <a:xfrm>
            <a:off x="11430000" y="6446520"/>
            <a:ext cx="365760" cy="320040"/>
          </a:xfrm>
          <a:prstGeom prst="rect">
            <a:avLst/>
          </a:prstGeom>
          <a:noFill/>
          <a:ln/>
        </p:spPr>
        <p:txBody>
          <a:bodyPr wrap="square" rtlCol="0" anchor="ctr"/>
          <a:lstStyle/>
          <a:p>
            <a:pPr algn="r" indent="0" marL="0">
              <a:buNone/>
            </a:pPr>
            <a:r>
              <a:rPr lang="en-US" sz="900" dirty="0">
                <a:solidFill>
                  <a:srgbClr val="8CA0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20"/>
        </a:solidFill>
      </p:bgPr>
    </p:bg>
    <p:spTree>
      <p:nvGrpSpPr>
        <p:cNvPr id="1" name=""/>
        <p:cNvGrpSpPr/>
        <p:nvPr/>
      </p:nvGrpSpPr>
      <p:grpSpPr>
        <a:xfrm>
          <a:off x="0" y="0"/>
          <a:ext cx="0" cy="0"/>
          <a:chOff x="0" y="0"/>
          <a:chExt cx="0" cy="0"/>
        </a:xfrm>
      </p:grpSpPr>
      <p:sp>
        <p:nvSpPr>
          <p:cNvPr id="2" name="Text 0"/>
          <p:cNvSpPr/>
          <p:nvPr/>
        </p:nvSpPr>
        <p:spPr>
          <a:xfrm>
            <a:off x="914400" y="1371600"/>
            <a:ext cx="10360152" cy="1463040"/>
          </a:xfrm>
          <a:prstGeom prst="rect">
            <a:avLst/>
          </a:prstGeom>
          <a:noFill/>
          <a:ln/>
        </p:spPr>
        <p:txBody>
          <a:bodyPr wrap="square" rtlCol="0" anchor="ctr"/>
          <a:lstStyle/>
          <a:p>
            <a:pPr algn="ctr" indent="0" marL="0">
              <a:lnSpc>
                <a:spcPts val="4200"/>
              </a:lnSpc>
              <a:buNone/>
            </a:pPr>
            <a:r>
              <a:rPr lang="en-US" sz="3400" b="1" dirty="0">
                <a:solidFill>
                  <a:srgbClr val="FFFFFF"/>
                </a:solidFill>
                <a:latin typeface="Arial" pitchFamily="34" charset="0"/>
                <a:ea typeface="Arial" pitchFamily="34" charset="-122"/>
                <a:cs typeface="Arial" pitchFamily="34" charset="-120"/>
              </a:rPr>
              <a:t>The window that matters is before the money moves.</a:t>
            </a:r>
            <a:endParaRPr lang="en-US" sz="3400" dirty="0"/>
          </a:p>
        </p:txBody>
      </p:sp>
      <p:sp>
        <p:nvSpPr>
          <p:cNvPr id="3" name="Text 1"/>
          <p:cNvSpPr/>
          <p:nvPr/>
        </p:nvSpPr>
        <p:spPr>
          <a:xfrm>
            <a:off x="1371600" y="2880360"/>
            <a:ext cx="9445752" cy="914400"/>
          </a:xfrm>
          <a:prstGeom prst="rect">
            <a:avLst/>
          </a:prstGeom>
          <a:noFill/>
          <a:ln/>
        </p:spPr>
        <p:txBody>
          <a:bodyPr wrap="square" rtlCol="0" anchor="ctr"/>
          <a:lstStyle/>
          <a:p>
            <a:pPr algn="ctr" indent="0" marL="0">
              <a:lnSpc>
                <a:spcPts val="2600"/>
              </a:lnSpc>
              <a:buNone/>
            </a:pPr>
            <a:r>
              <a:rPr lang="en-US" sz="1800" dirty="0">
                <a:solidFill>
                  <a:srgbClr val="22D3EE"/>
                </a:solidFill>
                <a:latin typeface="Calibri" pitchFamily="34" charset="0"/>
                <a:ea typeface="Calibri" pitchFamily="34" charset="-122"/>
                <a:cs typeface="Calibri" pitchFamily="34" charset="-120"/>
              </a:rPr>
              <a:t>PRAHARI protects that window — for the citizen on the call,</a:t>
            </a:r>
            <a:endParaRPr lang="en-US" sz="1800" dirty="0"/>
          </a:p>
          <a:p>
            <a:pPr algn="ctr" indent="0" marL="0">
              <a:lnSpc>
                <a:spcPts val="2600"/>
              </a:lnSpc>
              <a:buNone/>
            </a:pPr>
            <a:r>
              <a:rPr lang="en-US" sz="1800" dirty="0">
                <a:solidFill>
                  <a:srgbClr val="22D3EE"/>
                </a:solidFill>
                <a:latin typeface="Calibri" pitchFamily="34" charset="0"/>
                <a:ea typeface="Calibri" pitchFamily="34" charset="-122"/>
                <a:cs typeface="Calibri" pitchFamily="34" charset="-120"/>
              </a:rPr>
              <a:t>the teller at the counter, and the officer chasing the network.</a:t>
            </a:r>
            <a:endParaRPr lang="en-US" sz="1800" dirty="0"/>
          </a:p>
        </p:txBody>
      </p:sp>
      <p:sp>
        <p:nvSpPr>
          <p:cNvPr id="4" name="Shape 2"/>
          <p:cNvSpPr/>
          <p:nvPr/>
        </p:nvSpPr>
        <p:spPr>
          <a:xfrm>
            <a:off x="914400" y="4114800"/>
            <a:ext cx="3246120" cy="1371600"/>
          </a:xfrm>
          <a:prstGeom prst="roundRect">
            <a:avLst>
              <a:gd name="adj" fmla="val 5333"/>
            </a:avLst>
          </a:prstGeom>
          <a:solidFill>
            <a:srgbClr val="141F38"/>
          </a:solidFill>
          <a:ln w="9525">
            <a:solidFill>
              <a:srgbClr val="24365C"/>
            </a:solidFill>
            <a:prstDash val="solid"/>
          </a:ln>
        </p:spPr>
      </p:sp>
      <p:sp>
        <p:nvSpPr>
          <p:cNvPr id="5" name="Text 3"/>
          <p:cNvSpPr/>
          <p:nvPr/>
        </p:nvSpPr>
        <p:spPr>
          <a:xfrm>
            <a:off x="1097280" y="4251960"/>
            <a:ext cx="2880360" cy="365760"/>
          </a:xfrm>
          <a:prstGeom prst="rect">
            <a:avLst/>
          </a:prstGeom>
          <a:noFill/>
          <a:ln/>
        </p:spPr>
        <p:txBody>
          <a:bodyPr wrap="square" rtlCol="0" anchor="ctr"/>
          <a:lstStyle/>
          <a:p>
            <a:pPr indent="0" marL="0">
              <a:buNone/>
            </a:pPr>
            <a:r>
              <a:rPr lang="en-US" sz="1500" b="1" dirty="0">
                <a:solidFill>
                  <a:srgbClr val="FBBF24"/>
                </a:solidFill>
                <a:latin typeface="Arial" pitchFamily="34" charset="0"/>
                <a:ea typeface="Arial" pitchFamily="34" charset="-122"/>
                <a:cs typeface="Arial" pitchFamily="34" charset="-120"/>
              </a:rPr>
              <a:t>0–3 mo</a:t>
            </a:r>
            <a:endParaRPr lang="en-US" sz="1500" dirty="0"/>
          </a:p>
        </p:txBody>
      </p:sp>
      <p:sp>
        <p:nvSpPr>
          <p:cNvPr id="6" name="Text 4"/>
          <p:cNvSpPr/>
          <p:nvPr/>
        </p:nvSpPr>
        <p:spPr>
          <a:xfrm>
            <a:off x="1097280" y="4617720"/>
            <a:ext cx="2880360" cy="777240"/>
          </a:xfrm>
          <a:prstGeom prst="rect">
            <a:avLst/>
          </a:prstGeom>
          <a:noFill/>
          <a:ln/>
        </p:spPr>
        <p:txBody>
          <a:bodyPr wrap="square" rtlCol="0" anchor="ctr"/>
          <a:lstStyle/>
          <a:p>
            <a:pPr indent="0" marL="0">
              <a:lnSpc>
                <a:spcPts val="1600"/>
              </a:lnSpc>
              <a:buNone/>
            </a:pPr>
            <a:r>
              <a:rPr lang="en-US" sz="1150" dirty="0">
                <a:solidFill>
                  <a:srgbClr val="DBE6F7"/>
                </a:solidFill>
                <a:latin typeface="Calibri" pitchFamily="34" charset="0"/>
                <a:ea typeface="Calibri" pitchFamily="34" charset="-122"/>
                <a:cs typeface="Calibri" pitchFamily="34" charset="-120"/>
              </a:rPr>
              <a:t>Telecom-circle pilot · classifier fine-tuned on I4C corpus</a:t>
            </a:r>
            <a:endParaRPr lang="en-US" sz="1150" dirty="0"/>
          </a:p>
        </p:txBody>
      </p:sp>
      <p:sp>
        <p:nvSpPr>
          <p:cNvPr id="7" name="Shape 5"/>
          <p:cNvSpPr/>
          <p:nvPr/>
        </p:nvSpPr>
        <p:spPr>
          <a:xfrm>
            <a:off x="4434840" y="4114800"/>
            <a:ext cx="3246120" cy="1371600"/>
          </a:xfrm>
          <a:prstGeom prst="roundRect">
            <a:avLst>
              <a:gd name="adj" fmla="val 5333"/>
            </a:avLst>
          </a:prstGeom>
          <a:solidFill>
            <a:srgbClr val="141F38"/>
          </a:solidFill>
          <a:ln w="9525">
            <a:solidFill>
              <a:srgbClr val="24365C"/>
            </a:solidFill>
            <a:prstDash val="solid"/>
          </a:ln>
        </p:spPr>
      </p:sp>
      <p:sp>
        <p:nvSpPr>
          <p:cNvPr id="8" name="Text 6"/>
          <p:cNvSpPr/>
          <p:nvPr/>
        </p:nvSpPr>
        <p:spPr>
          <a:xfrm>
            <a:off x="4617720" y="4251960"/>
            <a:ext cx="2880360" cy="365760"/>
          </a:xfrm>
          <a:prstGeom prst="rect">
            <a:avLst/>
          </a:prstGeom>
          <a:noFill/>
          <a:ln/>
        </p:spPr>
        <p:txBody>
          <a:bodyPr wrap="square" rtlCol="0" anchor="ctr"/>
          <a:lstStyle/>
          <a:p>
            <a:pPr indent="0" marL="0">
              <a:buNone/>
            </a:pPr>
            <a:r>
              <a:rPr lang="en-US" sz="1500" b="1" dirty="0">
                <a:solidFill>
                  <a:srgbClr val="FBBF24"/>
                </a:solidFill>
                <a:latin typeface="Arial" pitchFamily="34" charset="0"/>
                <a:ea typeface="Arial" pitchFamily="34" charset="-122"/>
                <a:cs typeface="Arial" pitchFamily="34" charset="-120"/>
              </a:rPr>
              <a:t>3–9 mo</a:t>
            </a:r>
            <a:endParaRPr lang="en-US" sz="1500" dirty="0"/>
          </a:p>
        </p:txBody>
      </p:sp>
      <p:sp>
        <p:nvSpPr>
          <p:cNvPr id="9" name="Text 7"/>
          <p:cNvSpPr/>
          <p:nvPr/>
        </p:nvSpPr>
        <p:spPr>
          <a:xfrm>
            <a:off x="4617720" y="4617720"/>
            <a:ext cx="2880360" cy="777240"/>
          </a:xfrm>
          <a:prstGeom prst="rect">
            <a:avLst/>
          </a:prstGeom>
          <a:noFill/>
          <a:ln/>
        </p:spPr>
        <p:txBody>
          <a:bodyPr wrap="square" rtlCol="0" anchor="ctr"/>
          <a:lstStyle/>
          <a:p>
            <a:pPr indent="0" marL="0">
              <a:lnSpc>
                <a:spcPts val="1600"/>
              </a:lnSpc>
              <a:buNone/>
            </a:pPr>
            <a:r>
              <a:rPr lang="en-US" sz="1150" dirty="0">
                <a:solidFill>
                  <a:srgbClr val="DBE6F7"/>
                </a:solidFill>
                <a:latin typeface="Calibri" pitchFamily="34" charset="0"/>
                <a:ea typeface="Calibri" pitchFamily="34" charset="-122"/>
                <a:cs typeface="Calibri" pitchFamily="34" charset="-120"/>
              </a:rPr>
              <a:t>Bank &amp; counting-machine integration · I4C pipeline ingestion</a:t>
            </a:r>
            <a:endParaRPr lang="en-US" sz="1150" dirty="0"/>
          </a:p>
        </p:txBody>
      </p:sp>
      <p:sp>
        <p:nvSpPr>
          <p:cNvPr id="10" name="Shape 8"/>
          <p:cNvSpPr/>
          <p:nvPr/>
        </p:nvSpPr>
        <p:spPr>
          <a:xfrm>
            <a:off x="7955280" y="4114800"/>
            <a:ext cx="3246120" cy="1371600"/>
          </a:xfrm>
          <a:prstGeom prst="roundRect">
            <a:avLst>
              <a:gd name="adj" fmla="val 5333"/>
            </a:avLst>
          </a:prstGeom>
          <a:solidFill>
            <a:srgbClr val="141F38"/>
          </a:solidFill>
          <a:ln w="9525">
            <a:solidFill>
              <a:srgbClr val="24365C"/>
            </a:solidFill>
            <a:prstDash val="solid"/>
          </a:ln>
        </p:spPr>
      </p:sp>
      <p:sp>
        <p:nvSpPr>
          <p:cNvPr id="11" name="Text 9"/>
          <p:cNvSpPr/>
          <p:nvPr/>
        </p:nvSpPr>
        <p:spPr>
          <a:xfrm>
            <a:off x="8138160" y="4251960"/>
            <a:ext cx="2880360" cy="365760"/>
          </a:xfrm>
          <a:prstGeom prst="rect">
            <a:avLst/>
          </a:prstGeom>
          <a:noFill/>
          <a:ln/>
        </p:spPr>
        <p:txBody>
          <a:bodyPr wrap="square" rtlCol="0" anchor="ctr"/>
          <a:lstStyle/>
          <a:p>
            <a:pPr indent="0" marL="0">
              <a:buNone/>
            </a:pPr>
            <a:r>
              <a:rPr lang="en-US" sz="1500" b="1" dirty="0">
                <a:solidFill>
                  <a:srgbClr val="FBBF24"/>
                </a:solidFill>
                <a:latin typeface="Arial" pitchFamily="34" charset="0"/>
                <a:ea typeface="Arial" pitchFamily="34" charset="-122"/>
                <a:cs typeface="Arial" pitchFamily="34" charset="-120"/>
              </a:rPr>
              <a:t>9–18 mo</a:t>
            </a:r>
            <a:endParaRPr lang="en-US" sz="1500" dirty="0"/>
          </a:p>
        </p:txBody>
      </p:sp>
      <p:sp>
        <p:nvSpPr>
          <p:cNvPr id="12" name="Text 10"/>
          <p:cNvSpPr/>
          <p:nvPr/>
        </p:nvSpPr>
        <p:spPr>
          <a:xfrm>
            <a:off x="8138160" y="4617720"/>
            <a:ext cx="2880360" cy="777240"/>
          </a:xfrm>
          <a:prstGeom prst="rect">
            <a:avLst/>
          </a:prstGeom>
          <a:noFill/>
          <a:ln/>
        </p:spPr>
        <p:txBody>
          <a:bodyPr wrap="square" rtlCol="0" anchor="ctr"/>
          <a:lstStyle/>
          <a:p>
            <a:pPr indent="0" marL="0">
              <a:lnSpc>
                <a:spcPts val="1600"/>
              </a:lnSpc>
              <a:buNone/>
            </a:pPr>
            <a:r>
              <a:rPr lang="en-US" sz="1150" dirty="0">
                <a:solidFill>
                  <a:srgbClr val="DBE6F7"/>
                </a:solidFill>
                <a:latin typeface="Calibri" pitchFamily="34" charset="0"/>
                <a:ea typeface="Calibri" pitchFamily="34" charset="-122"/>
                <a:cs typeface="Calibri" pitchFamily="34" charset="-120"/>
              </a:rPr>
              <a:t>National rollout · deepfake detection · 12-language Citizen Shield</a:t>
            </a:r>
            <a:endParaRPr lang="en-US" sz="1150" dirty="0"/>
          </a:p>
        </p:txBody>
      </p:sp>
      <p:sp>
        <p:nvSpPr>
          <p:cNvPr id="13" name="Text 11"/>
          <p:cNvSpPr/>
          <p:nvPr/>
        </p:nvSpPr>
        <p:spPr>
          <a:xfrm>
            <a:off x="457200" y="5943600"/>
            <a:ext cx="11274552" cy="457200"/>
          </a:xfrm>
          <a:prstGeom prst="rect">
            <a:avLst/>
          </a:prstGeom>
          <a:noFill/>
          <a:ln/>
        </p:spPr>
        <p:txBody>
          <a:bodyPr wrap="square" rtlCol="0" anchor="ctr"/>
          <a:lstStyle/>
          <a:p>
            <a:pPr algn="ctr" indent="0" marL="0">
              <a:buNone/>
            </a:pPr>
            <a:r>
              <a:rPr lang="en-US" sz="1500" i="1" dirty="0">
                <a:solidFill>
                  <a:srgbClr val="8CA0C4"/>
                </a:solidFill>
                <a:latin typeface="Calibri" pitchFamily="34" charset="0"/>
                <a:ea typeface="Calibri" pitchFamily="34" charset="-122"/>
                <a:cs typeface="Calibri" pitchFamily="34" charset="-120"/>
              </a:rPr>
              <a:t>PRAHARI · Predict. Protect. Prosecute.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2026-07-03T18:22:38Z</dcterms:created>
  <dcterms:modified xsi:type="dcterms:W3CDTF">2026-07-03T18:22:38Z</dcterms:modified>
</cp:coreProperties>
</file>